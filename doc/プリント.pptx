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346" r:id="rId5"/>
    <p:sldId id="347" r:id="rId6"/>
    <p:sldId id="349" r:id="rId7"/>
    <p:sldId id="348" r:id="rId8"/>
    <p:sldId id="350" r:id="rId9"/>
    <p:sldId id="351" r:id="rId10"/>
    <p:sldId id="355" r:id="rId11"/>
    <p:sldId id="356" r:id="rId12"/>
    <p:sldId id="357" r:id="rId13"/>
    <p:sldId id="358" r:id="rId14"/>
    <p:sldId id="359" r:id="rId15"/>
    <p:sldId id="360" r:id="rId16"/>
    <p:sldId id="364" r:id="rId17"/>
    <p:sldId id="366" r:id="rId18"/>
    <p:sldId id="363" r:id="rId19"/>
    <p:sldId id="368" r:id="rId20"/>
    <p:sldId id="380" r:id="rId21"/>
    <p:sldId id="369" r:id="rId22"/>
    <p:sldId id="370" r:id="rId23"/>
    <p:sldId id="371" r:id="rId24"/>
    <p:sldId id="373" r:id="rId25"/>
    <p:sldId id="374" r:id="rId26"/>
    <p:sldId id="375" r:id="rId27"/>
    <p:sldId id="377" r:id="rId28"/>
    <p:sldId id="378" r:id="rId29"/>
    <p:sldId id="379" r:id="rId30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660"/>
    <a:srgbClr val="9751CB"/>
    <a:srgbClr val="2BC2B4"/>
    <a:srgbClr val="FFC107"/>
    <a:srgbClr val="C7E3FD"/>
    <a:srgbClr val="00B0F0"/>
    <a:srgbClr val="E2A700"/>
    <a:srgbClr val="22BA67"/>
    <a:srgbClr val="4D90EF"/>
    <a:srgbClr val="FD5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83656" autoAdjust="0"/>
  </p:normalViewPr>
  <p:slideViewPr>
    <p:cSldViewPr snapToGrid="0">
      <p:cViewPr varScale="1">
        <p:scale>
          <a:sx n="89" d="100"/>
          <a:sy n="89" d="100"/>
        </p:scale>
        <p:origin x="2304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548" y="9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93528B-106F-487B-A702-A9BB0790FC07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3D21CB-90A0-4FE9-BBEF-169315FE8399}">
      <dgm:prSet phldrT="[Text]"/>
      <dgm:spPr/>
      <dgm:t>
        <a:bodyPr/>
        <a:lstStyle/>
        <a:p>
          <a:r>
            <a:rPr lang="ja-JP" altLang="en-US" dirty="0"/>
            <a:t>現在地を</a:t>
          </a:r>
          <a:endParaRPr lang="en-US" altLang="ja-JP" dirty="0"/>
        </a:p>
        <a:p>
          <a:r>
            <a:rPr lang="ja-JP" altLang="en-US" dirty="0"/>
            <a:t>見る</a:t>
          </a:r>
          <a:endParaRPr lang="en-US" dirty="0"/>
        </a:p>
      </dgm:t>
    </dgm:pt>
    <dgm:pt modelId="{4CAFBF0B-DFF9-4F6E-85FC-806A71D0E981}" type="parTrans" cxnId="{46F716B0-AA5C-4244-B219-C6FC3B74A06C}">
      <dgm:prSet/>
      <dgm:spPr/>
      <dgm:t>
        <a:bodyPr/>
        <a:lstStyle/>
        <a:p>
          <a:endParaRPr lang="en-US"/>
        </a:p>
      </dgm:t>
    </dgm:pt>
    <dgm:pt modelId="{0CDED1B1-8469-4A02-A90A-844D74BD69CD}" type="sibTrans" cxnId="{46F716B0-AA5C-4244-B219-C6FC3B74A06C}">
      <dgm:prSet/>
      <dgm:spPr/>
      <dgm:t>
        <a:bodyPr/>
        <a:lstStyle/>
        <a:p>
          <a:endParaRPr lang="en-US"/>
        </a:p>
      </dgm:t>
    </dgm:pt>
    <dgm:pt modelId="{30F46585-23F8-4AB1-B572-CF89D93DC0FA}">
      <dgm:prSet phldrT="[Text]"/>
      <dgm:spPr/>
      <dgm:t>
        <a:bodyPr/>
        <a:lstStyle/>
        <a:p>
          <a:r>
            <a:rPr lang="ja-JP" altLang="en-US" dirty="0"/>
            <a:t>行動を選ぶ</a:t>
          </a:r>
          <a:endParaRPr lang="en-US" dirty="0"/>
        </a:p>
      </dgm:t>
    </dgm:pt>
    <dgm:pt modelId="{8DB24C2D-AFC6-4490-94B3-3670567F7B0E}" type="parTrans" cxnId="{459FBFF5-2167-41EB-B940-199FB8F3469E}">
      <dgm:prSet/>
      <dgm:spPr/>
      <dgm:t>
        <a:bodyPr/>
        <a:lstStyle/>
        <a:p>
          <a:endParaRPr lang="en-US"/>
        </a:p>
      </dgm:t>
    </dgm:pt>
    <dgm:pt modelId="{B45FEA1F-9CC7-4AFF-A9AF-E4D25ADBABB0}" type="sibTrans" cxnId="{459FBFF5-2167-41EB-B940-199FB8F3469E}">
      <dgm:prSet/>
      <dgm:spPr/>
      <dgm:t>
        <a:bodyPr/>
        <a:lstStyle/>
        <a:p>
          <a:endParaRPr lang="en-US"/>
        </a:p>
      </dgm:t>
    </dgm:pt>
    <dgm:pt modelId="{F63D762B-2F0E-41F5-AD12-AC2A2F07FC70}">
      <dgm:prSet phldrT="[Text]"/>
      <dgm:spPr/>
      <dgm:t>
        <a:bodyPr/>
        <a:lstStyle/>
        <a:p>
          <a:r>
            <a:rPr lang="ja-JP" altLang="en-US" dirty="0"/>
            <a:t>報酬を受け取る（エネルギー）</a:t>
          </a:r>
          <a:endParaRPr lang="en-US" dirty="0"/>
        </a:p>
      </dgm:t>
    </dgm:pt>
    <dgm:pt modelId="{B4248941-4FA0-46E8-A6E0-69CD64B9DFEB}" type="parTrans" cxnId="{6D8BBEA0-03FB-4A4E-9F39-376AE811FC27}">
      <dgm:prSet/>
      <dgm:spPr/>
      <dgm:t>
        <a:bodyPr/>
        <a:lstStyle/>
        <a:p>
          <a:endParaRPr lang="en-US"/>
        </a:p>
      </dgm:t>
    </dgm:pt>
    <dgm:pt modelId="{AE512B24-0B79-44B8-975D-F2DA7FD05C5F}" type="sibTrans" cxnId="{6D8BBEA0-03FB-4A4E-9F39-376AE811FC27}">
      <dgm:prSet/>
      <dgm:spPr/>
      <dgm:t>
        <a:bodyPr/>
        <a:lstStyle/>
        <a:p>
          <a:endParaRPr lang="en-US"/>
        </a:p>
      </dgm:t>
    </dgm:pt>
    <dgm:pt modelId="{4709D8F7-57E1-4B46-BEFD-A3F76D47C1F7}">
      <dgm:prSet phldrT="[Text]"/>
      <dgm:spPr/>
      <dgm:t>
        <a:bodyPr/>
        <a:lstStyle/>
        <a:p>
          <a:r>
            <a:rPr lang="en-US" dirty="0"/>
            <a:t>Q</a:t>
          </a:r>
          <a:r>
            <a:rPr lang="ja-JP" altLang="en-US" dirty="0"/>
            <a:t>テーブルを</a:t>
          </a:r>
          <a:endParaRPr lang="en-US" altLang="ja-JP" dirty="0"/>
        </a:p>
        <a:p>
          <a:r>
            <a:rPr lang="ja-JP" altLang="en-US" dirty="0"/>
            <a:t>更新する</a:t>
          </a:r>
          <a:endParaRPr lang="en-US" dirty="0"/>
        </a:p>
      </dgm:t>
    </dgm:pt>
    <dgm:pt modelId="{F0C92668-3BAB-4FE2-A1D6-07D4D326FB90}" type="parTrans" cxnId="{7CCF1E1B-2F7F-4DE4-8BBA-B7C9E2C78C0F}">
      <dgm:prSet/>
      <dgm:spPr/>
      <dgm:t>
        <a:bodyPr/>
        <a:lstStyle/>
        <a:p>
          <a:endParaRPr lang="en-US"/>
        </a:p>
      </dgm:t>
    </dgm:pt>
    <dgm:pt modelId="{10A8716C-2A5A-4E14-9030-12A879D77D62}" type="sibTrans" cxnId="{7CCF1E1B-2F7F-4DE4-8BBA-B7C9E2C78C0F}">
      <dgm:prSet/>
      <dgm:spPr/>
      <dgm:t>
        <a:bodyPr/>
        <a:lstStyle/>
        <a:p>
          <a:endParaRPr lang="en-US"/>
        </a:p>
      </dgm:t>
    </dgm:pt>
    <dgm:pt modelId="{C25254E8-D89F-4E00-9B63-4814F42A5BB5}" type="pres">
      <dgm:prSet presAssocID="{D493528B-106F-487B-A702-A9BB0790FC07}" presName="Name0" presStyleCnt="0">
        <dgm:presLayoutVars>
          <dgm:dir/>
          <dgm:resizeHandles val="exact"/>
        </dgm:presLayoutVars>
      </dgm:prSet>
      <dgm:spPr/>
    </dgm:pt>
    <dgm:pt modelId="{6333269A-E5AD-4E08-89DD-B07F52A80250}" type="pres">
      <dgm:prSet presAssocID="{D493528B-106F-487B-A702-A9BB0790FC07}" presName="cycle" presStyleCnt="0"/>
      <dgm:spPr/>
    </dgm:pt>
    <dgm:pt modelId="{E119B017-3199-4569-9036-D53FBF146B18}" type="pres">
      <dgm:prSet presAssocID="{DE3D21CB-90A0-4FE9-BBEF-169315FE8399}" presName="nodeFirstNode" presStyleLbl="node1" presStyleIdx="0" presStyleCnt="4">
        <dgm:presLayoutVars>
          <dgm:bulletEnabled val="1"/>
        </dgm:presLayoutVars>
      </dgm:prSet>
      <dgm:spPr/>
    </dgm:pt>
    <dgm:pt modelId="{3AEE0584-99FC-465D-8F81-06C975110899}" type="pres">
      <dgm:prSet presAssocID="{0CDED1B1-8469-4A02-A90A-844D74BD69CD}" presName="sibTransFirstNode" presStyleLbl="bgShp" presStyleIdx="0" presStyleCnt="1"/>
      <dgm:spPr/>
    </dgm:pt>
    <dgm:pt modelId="{FD6D1E38-456C-46C0-B8D3-6A510EED2788}" type="pres">
      <dgm:prSet presAssocID="{30F46585-23F8-4AB1-B572-CF89D93DC0FA}" presName="nodeFollowingNodes" presStyleLbl="node1" presStyleIdx="1" presStyleCnt="4">
        <dgm:presLayoutVars>
          <dgm:bulletEnabled val="1"/>
        </dgm:presLayoutVars>
      </dgm:prSet>
      <dgm:spPr/>
    </dgm:pt>
    <dgm:pt modelId="{1EFA83F8-220C-45D8-A356-ED53DD90DF2A}" type="pres">
      <dgm:prSet presAssocID="{F63D762B-2F0E-41F5-AD12-AC2A2F07FC70}" presName="nodeFollowingNodes" presStyleLbl="node1" presStyleIdx="2" presStyleCnt="4">
        <dgm:presLayoutVars>
          <dgm:bulletEnabled val="1"/>
        </dgm:presLayoutVars>
      </dgm:prSet>
      <dgm:spPr/>
    </dgm:pt>
    <dgm:pt modelId="{E914F9C8-FEC5-4263-9D0E-E20A4FE62284}" type="pres">
      <dgm:prSet presAssocID="{4709D8F7-57E1-4B46-BEFD-A3F76D47C1F7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F3098612-1109-40CD-85C5-64E08984BF4D}" type="presOf" srcId="{DE3D21CB-90A0-4FE9-BBEF-169315FE8399}" destId="{E119B017-3199-4569-9036-D53FBF146B18}" srcOrd="0" destOrd="0" presId="urn:microsoft.com/office/officeart/2005/8/layout/cycle3"/>
    <dgm:cxn modelId="{5AF99118-672B-45ED-B25A-395D8A9E7575}" type="presOf" srcId="{D493528B-106F-487B-A702-A9BB0790FC07}" destId="{C25254E8-D89F-4E00-9B63-4814F42A5BB5}" srcOrd="0" destOrd="0" presId="urn:microsoft.com/office/officeart/2005/8/layout/cycle3"/>
    <dgm:cxn modelId="{7CCF1E1B-2F7F-4DE4-8BBA-B7C9E2C78C0F}" srcId="{D493528B-106F-487B-A702-A9BB0790FC07}" destId="{4709D8F7-57E1-4B46-BEFD-A3F76D47C1F7}" srcOrd="3" destOrd="0" parTransId="{F0C92668-3BAB-4FE2-A1D6-07D4D326FB90}" sibTransId="{10A8716C-2A5A-4E14-9030-12A879D77D62}"/>
    <dgm:cxn modelId="{7487F338-593B-497D-BFCC-4D1230FD9052}" type="presOf" srcId="{4709D8F7-57E1-4B46-BEFD-A3F76D47C1F7}" destId="{E914F9C8-FEC5-4263-9D0E-E20A4FE62284}" srcOrd="0" destOrd="0" presId="urn:microsoft.com/office/officeart/2005/8/layout/cycle3"/>
    <dgm:cxn modelId="{AAFCC44B-DD4C-4990-B8E9-A70F897065FB}" type="presOf" srcId="{30F46585-23F8-4AB1-B572-CF89D93DC0FA}" destId="{FD6D1E38-456C-46C0-B8D3-6A510EED2788}" srcOrd="0" destOrd="0" presId="urn:microsoft.com/office/officeart/2005/8/layout/cycle3"/>
    <dgm:cxn modelId="{65D9267F-68F0-4C45-B165-63E7F366B3D8}" type="presOf" srcId="{F63D762B-2F0E-41F5-AD12-AC2A2F07FC70}" destId="{1EFA83F8-220C-45D8-A356-ED53DD90DF2A}" srcOrd="0" destOrd="0" presId="urn:microsoft.com/office/officeart/2005/8/layout/cycle3"/>
    <dgm:cxn modelId="{6D8BBEA0-03FB-4A4E-9F39-376AE811FC27}" srcId="{D493528B-106F-487B-A702-A9BB0790FC07}" destId="{F63D762B-2F0E-41F5-AD12-AC2A2F07FC70}" srcOrd="2" destOrd="0" parTransId="{B4248941-4FA0-46E8-A6E0-69CD64B9DFEB}" sibTransId="{AE512B24-0B79-44B8-975D-F2DA7FD05C5F}"/>
    <dgm:cxn modelId="{46F716B0-AA5C-4244-B219-C6FC3B74A06C}" srcId="{D493528B-106F-487B-A702-A9BB0790FC07}" destId="{DE3D21CB-90A0-4FE9-BBEF-169315FE8399}" srcOrd="0" destOrd="0" parTransId="{4CAFBF0B-DFF9-4F6E-85FC-806A71D0E981}" sibTransId="{0CDED1B1-8469-4A02-A90A-844D74BD69CD}"/>
    <dgm:cxn modelId="{9B38F2D3-C0DD-4824-A2F8-56F39DDA2BAF}" type="presOf" srcId="{0CDED1B1-8469-4A02-A90A-844D74BD69CD}" destId="{3AEE0584-99FC-465D-8F81-06C975110899}" srcOrd="0" destOrd="0" presId="urn:microsoft.com/office/officeart/2005/8/layout/cycle3"/>
    <dgm:cxn modelId="{459FBFF5-2167-41EB-B940-199FB8F3469E}" srcId="{D493528B-106F-487B-A702-A9BB0790FC07}" destId="{30F46585-23F8-4AB1-B572-CF89D93DC0FA}" srcOrd="1" destOrd="0" parTransId="{8DB24C2D-AFC6-4490-94B3-3670567F7B0E}" sibTransId="{B45FEA1F-9CC7-4AFF-A9AF-E4D25ADBABB0}"/>
    <dgm:cxn modelId="{95D6DCA5-E067-4227-A3D1-18F9550B4A06}" type="presParOf" srcId="{C25254E8-D89F-4E00-9B63-4814F42A5BB5}" destId="{6333269A-E5AD-4E08-89DD-B07F52A80250}" srcOrd="0" destOrd="0" presId="urn:microsoft.com/office/officeart/2005/8/layout/cycle3"/>
    <dgm:cxn modelId="{9EF1A69F-2978-4A6D-BFFC-349A41A28BEE}" type="presParOf" srcId="{6333269A-E5AD-4E08-89DD-B07F52A80250}" destId="{E119B017-3199-4569-9036-D53FBF146B18}" srcOrd="0" destOrd="0" presId="urn:microsoft.com/office/officeart/2005/8/layout/cycle3"/>
    <dgm:cxn modelId="{8C240401-4632-498C-96EA-5E81C108BBAE}" type="presParOf" srcId="{6333269A-E5AD-4E08-89DD-B07F52A80250}" destId="{3AEE0584-99FC-465D-8F81-06C975110899}" srcOrd="1" destOrd="0" presId="urn:microsoft.com/office/officeart/2005/8/layout/cycle3"/>
    <dgm:cxn modelId="{D17A5A18-1616-45A1-BEF7-D0405A365ED2}" type="presParOf" srcId="{6333269A-E5AD-4E08-89DD-B07F52A80250}" destId="{FD6D1E38-456C-46C0-B8D3-6A510EED2788}" srcOrd="2" destOrd="0" presId="urn:microsoft.com/office/officeart/2005/8/layout/cycle3"/>
    <dgm:cxn modelId="{55ED8C90-EF6E-4015-A422-0F86F0A6F11D}" type="presParOf" srcId="{6333269A-E5AD-4E08-89DD-B07F52A80250}" destId="{1EFA83F8-220C-45D8-A356-ED53DD90DF2A}" srcOrd="3" destOrd="0" presId="urn:microsoft.com/office/officeart/2005/8/layout/cycle3"/>
    <dgm:cxn modelId="{0DFC8E76-E45C-478C-96D7-C05AFE0EA637}" type="presParOf" srcId="{6333269A-E5AD-4E08-89DD-B07F52A80250}" destId="{E914F9C8-FEC5-4263-9D0E-E20A4FE62284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E0584-99FC-465D-8F81-06C975110899}">
      <dsp:nvSpPr>
        <dsp:cNvPr id="0" name=""/>
        <dsp:cNvSpPr/>
      </dsp:nvSpPr>
      <dsp:spPr>
        <a:xfrm>
          <a:off x="723831" y="-41299"/>
          <a:ext cx="3038501" cy="3038501"/>
        </a:xfrm>
        <a:prstGeom prst="circularArrow">
          <a:avLst>
            <a:gd name="adj1" fmla="val 4668"/>
            <a:gd name="adj2" fmla="val 272909"/>
            <a:gd name="adj3" fmla="val 13132677"/>
            <a:gd name="adj4" fmla="val 17828990"/>
            <a:gd name="adj5" fmla="val 484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19B017-3199-4569-9036-D53FBF146B18}">
      <dsp:nvSpPr>
        <dsp:cNvPr id="0" name=""/>
        <dsp:cNvSpPr/>
      </dsp:nvSpPr>
      <dsp:spPr>
        <a:xfrm>
          <a:off x="1311020" y="1458"/>
          <a:ext cx="1864124" cy="93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 dirty="0"/>
            <a:t>現在地を</a:t>
          </a:r>
          <a:endParaRPr lang="en-US" altLang="ja-JP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 dirty="0"/>
            <a:t>見る</a:t>
          </a:r>
          <a:endParaRPr lang="en-US" sz="1800" kern="1200" dirty="0"/>
        </a:p>
      </dsp:txBody>
      <dsp:txXfrm>
        <a:off x="1356520" y="46958"/>
        <a:ext cx="1773124" cy="841062"/>
      </dsp:txXfrm>
    </dsp:sp>
    <dsp:sp modelId="{FD6D1E38-456C-46C0-B8D3-6A510EED2788}">
      <dsp:nvSpPr>
        <dsp:cNvPr id="0" name=""/>
        <dsp:cNvSpPr/>
      </dsp:nvSpPr>
      <dsp:spPr>
        <a:xfrm>
          <a:off x="2402044" y="1092482"/>
          <a:ext cx="1864124" cy="93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 dirty="0"/>
            <a:t>行動を選ぶ</a:t>
          </a:r>
          <a:endParaRPr lang="en-US" sz="1800" kern="1200" dirty="0"/>
        </a:p>
      </dsp:txBody>
      <dsp:txXfrm>
        <a:off x="2447544" y="1137982"/>
        <a:ext cx="1773124" cy="841062"/>
      </dsp:txXfrm>
    </dsp:sp>
    <dsp:sp modelId="{1EFA83F8-220C-45D8-A356-ED53DD90DF2A}">
      <dsp:nvSpPr>
        <dsp:cNvPr id="0" name=""/>
        <dsp:cNvSpPr/>
      </dsp:nvSpPr>
      <dsp:spPr>
        <a:xfrm>
          <a:off x="1311020" y="2183506"/>
          <a:ext cx="1864124" cy="93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 dirty="0"/>
            <a:t>報酬を受け取る（エネルギー）</a:t>
          </a:r>
          <a:endParaRPr lang="en-US" sz="1800" kern="1200" dirty="0"/>
        </a:p>
      </dsp:txBody>
      <dsp:txXfrm>
        <a:off x="1356520" y="2229006"/>
        <a:ext cx="1773124" cy="841062"/>
      </dsp:txXfrm>
    </dsp:sp>
    <dsp:sp modelId="{E914F9C8-FEC5-4263-9D0E-E20A4FE62284}">
      <dsp:nvSpPr>
        <dsp:cNvPr id="0" name=""/>
        <dsp:cNvSpPr/>
      </dsp:nvSpPr>
      <dsp:spPr>
        <a:xfrm>
          <a:off x="219996" y="1092482"/>
          <a:ext cx="1864124" cy="932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</a:t>
          </a:r>
          <a:r>
            <a:rPr lang="ja-JP" altLang="en-US" sz="1800" kern="1200" dirty="0"/>
            <a:t>テーブルを</a:t>
          </a:r>
          <a:endParaRPr lang="en-US" altLang="ja-JP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 dirty="0"/>
            <a:t>更新する</a:t>
          </a:r>
          <a:endParaRPr lang="en-US" sz="1800" kern="1200" dirty="0"/>
        </a:p>
      </dsp:txBody>
      <dsp:txXfrm>
        <a:off x="265496" y="1137982"/>
        <a:ext cx="1773124" cy="841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438458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DC994AA-C437-4EF4-8BEF-0B832D7FA420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B20CE03-6C3A-EB4D-A9B1-7EFD38B58412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54363" y="914400"/>
            <a:ext cx="3292475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40"/>
            <a:ext cx="7680960" cy="288036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300" dirty="0"/>
              <a:t>題材</a:t>
            </a:r>
            <a:r>
              <a:rPr lang="en-US" altLang="ja-JP" sz="1300" dirty="0"/>
              <a:t>=</a:t>
            </a:r>
            <a:r>
              <a:rPr lang="ja-JP" altLang="en-US" sz="1300" dirty="0"/>
              <a:t>だいざい</a:t>
            </a:r>
            <a:endParaRPr lang="en-US" altLang="ja-JP" sz="1300" dirty="0"/>
          </a:p>
          <a:p>
            <a:r>
              <a:rPr lang="ja-JP" altLang="en-US" sz="1300" dirty="0"/>
              <a:t>試行錯誤</a:t>
            </a:r>
            <a:r>
              <a:rPr lang="en-US" altLang="ja-JP" sz="1300" dirty="0"/>
              <a:t>=</a:t>
            </a:r>
            <a:r>
              <a:rPr lang="ja-JP" altLang="en-US" sz="1300" dirty="0"/>
              <a:t>しこうさくご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75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相互作用＝そうごさよう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743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挑戦＝ちょうせん</a:t>
            </a:r>
            <a:endParaRPr lang="en-US" altLang="ja-JP" dirty="0"/>
          </a:p>
          <a:p>
            <a:r>
              <a:rPr lang="ja-JP" altLang="en-US" dirty="0"/>
              <a:t>最適＝さいてき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154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増減＝ぞうげん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上下左右＝じょうげさゆう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351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Q(st​,at​)：</a:t>
                </a:r>
                <a:r>
                  <a:rPr lang="en-US" b="1" dirty="0" err="1"/>
                  <a:t>現在のQ値（行動前の予想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3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：</a:t>
                </a:r>
                <a:r>
                  <a:rPr lang="en-US" b="1" dirty="0" err="1"/>
                  <a:t>学習率（どれくらい修正するか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3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：</a:t>
                </a:r>
                <a:r>
                  <a:rPr lang="en-US" b="1" dirty="0" err="1"/>
                  <a:t>行動後に得た報酬</a:t>
                </a:r>
                <a:r>
                  <a:rPr lang="en-US" dirty="0"/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3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：</a:t>
                </a:r>
                <a:r>
                  <a:rPr lang="en-US" b="1" dirty="0" err="1"/>
                  <a:t>割引率（未来をどれだけ重視するか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3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13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30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3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：</a:t>
                </a:r>
                <a:r>
                  <a:rPr lang="en-US" b="1" dirty="0" err="1"/>
                  <a:t>次のマスで一番高いQ値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dirty="0" err="1"/>
                  <a:t>最後の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3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en-US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3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：</a:t>
                </a:r>
                <a:r>
                  <a:rPr lang="en-US" b="1" dirty="0" err="1"/>
                  <a:t>現在のQ値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Q(st​,at​)：</a:t>
                </a:r>
                <a:r>
                  <a:rPr lang="en-US" b="1" dirty="0" err="1"/>
                  <a:t>現在のQ値（行動前の予想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en-US" dirty="0"/>
                  <a:t>：</a:t>
                </a:r>
                <a:r>
                  <a:rPr lang="en-US" b="1" dirty="0" err="1"/>
                  <a:t>学習率（どれくらい修正するか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𝑟_(𝑡+1)</a:t>
                </a:r>
                <a:r>
                  <a:rPr lang="en-US" dirty="0"/>
                  <a:t>：</a:t>
                </a:r>
                <a:r>
                  <a:rPr lang="en-US" b="1" dirty="0" err="1"/>
                  <a:t>行動後に得た報酬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</a:t>
                </a:r>
                <a:r>
                  <a:rPr lang="en-US" dirty="0"/>
                  <a:t>：</a:t>
                </a:r>
                <a:r>
                  <a:rPr lang="en-US" b="1" dirty="0" err="1"/>
                  <a:t>割引率（未来をどれだけ重視するか</a:t>
                </a:r>
                <a:r>
                  <a:rPr lang="en-US" b="1" dirty="0"/>
                  <a:t>）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max_(𝑎^′ ) 𝑄(𝑠_(𝑡+1)ⓜ,𝑎^′ )</a:t>
                </a:r>
                <a:r>
                  <a:rPr lang="en-US" dirty="0"/>
                  <a:t>：</a:t>
                </a:r>
                <a:r>
                  <a:rPr lang="en-US" b="1" dirty="0" err="1"/>
                  <a:t>次のマスで一番高いQ値</a:t>
                </a:r>
                <a:r>
                  <a:rPr lang="en-US" dirty="0"/>
                  <a:t> </a:t>
                </a:r>
              </a:p>
              <a:p>
                <a:pPr lvl="0"/>
                <a:r>
                  <a:rPr lang="en-US" dirty="0" err="1"/>
                  <a:t>最後の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𝑄(𝑠_𝑡ⓜ,𝑎_𝑡 )</a:t>
                </a:r>
                <a:r>
                  <a:rPr lang="en-US" dirty="0"/>
                  <a:t>：</a:t>
                </a:r>
                <a:r>
                  <a:rPr lang="en-US" b="1" dirty="0" err="1"/>
                  <a:t>現在のQ値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88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重視＝じゅし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04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9F06F2-3A00-14DE-2A96-DB8B172628FB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96705D8-5032-1E07-61C2-4F5B11745B84}"/>
              </a:ext>
            </a:extLst>
          </p:cNvPr>
          <p:cNvSpPr txBox="1">
            <a:spLocks/>
          </p:cNvSpPr>
          <p:nvPr userDrawn="1"/>
        </p:nvSpPr>
        <p:spPr>
          <a:xfrm>
            <a:off x="264792" y="3810128"/>
            <a:ext cx="8657078" cy="2546710"/>
          </a:xfrm>
          <a:prstGeom prst="rect">
            <a:avLst/>
          </a:prstGeom>
          <a:noFill/>
          <a:ln w="19050">
            <a:solidFill>
              <a:srgbClr val="C097F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100" dirty="0"/>
              <a:t>Summary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732" y="736182"/>
            <a:ext cx="8650138" cy="1673435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08FDD-74C4-4348-DF2F-AAB3DF9B9F2A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1D2014-3849-C11D-CB53-155B01F648AD}"/>
              </a:ext>
            </a:extLst>
          </p:cNvPr>
          <p:cNvSpPr txBox="1">
            <a:spLocks/>
          </p:cNvSpPr>
          <p:nvPr userDrawn="1"/>
        </p:nvSpPr>
        <p:spPr>
          <a:xfrm>
            <a:off x="264793" y="3800603"/>
            <a:ext cx="8657078" cy="485647"/>
          </a:xfrm>
          <a:prstGeom prst="rect">
            <a:avLst/>
          </a:prstGeom>
          <a:solidFill>
            <a:srgbClr val="002060"/>
          </a:solidFill>
          <a:ln w="19050">
            <a:solidFill>
              <a:srgbClr val="002060"/>
            </a:solidFill>
          </a:ln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2100" dirty="0">
                <a:solidFill>
                  <a:schemeClr val="bg1"/>
                </a:solidFill>
              </a:rPr>
              <a:t>内容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791" y="4295776"/>
            <a:ext cx="8657079" cy="2061062"/>
          </a:xfrm>
          <a:solidFill>
            <a:schemeClr val="bg1"/>
          </a:solidFill>
          <a:ln w="19050">
            <a:solidFill>
              <a:srgbClr val="002060"/>
            </a:solidFill>
          </a:ln>
        </p:spPr>
        <p:txBody>
          <a:bodyPr>
            <a:normAutofit/>
          </a:bodyPr>
          <a:lstStyle>
            <a:lvl1pPr marL="0" indent="0">
              <a:buFont typeface="+mj-lt"/>
              <a:buAutoNum type="arabicPeriod"/>
              <a:defRPr sz="2800"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899EC65-5DCC-20B3-B6F9-F514087FD2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732" y="2416513"/>
            <a:ext cx="8650138" cy="13745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+mj-lt"/>
              </a:defRPr>
            </a:lvl1pPr>
          </a:lstStyle>
          <a:p>
            <a:pPr lvl="0"/>
            <a:r>
              <a:rPr lang="en-US" dirty="0"/>
              <a:t>John Smith</a:t>
            </a:r>
            <a:r>
              <a:rPr lang="en-US" altLang="ja-JP" dirty="0"/>
              <a:t>¹</a:t>
            </a:r>
            <a:r>
              <a:rPr lang="en-US" dirty="0"/>
              <a:t>, Mohd Hafizuddin Bin Kamilin</a:t>
            </a:r>
            <a:r>
              <a:rPr lang="en-US" altLang="ja-JP" dirty="0"/>
              <a:t>²</a:t>
            </a:r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A7CF6A23-F224-50A3-C0EE-6BCCF3ECB2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42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9F06F2-3A00-14DE-2A96-DB8B172628FB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732" y="736182"/>
            <a:ext cx="8650138" cy="2237837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08FDD-74C4-4348-DF2F-AAB3DF9B9F2A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791" y="3994952"/>
            <a:ext cx="8657079" cy="1784412"/>
          </a:xfrm>
          <a:solidFill>
            <a:schemeClr val="bg1"/>
          </a:solidFill>
          <a:ln w="19050">
            <a:solidFill>
              <a:srgbClr val="002060"/>
            </a:solidFill>
          </a:ln>
        </p:spPr>
        <p:txBody>
          <a:bodyPr>
            <a:normAutofit/>
          </a:bodyPr>
          <a:lstStyle>
            <a:lvl1pPr marL="0" indent="0">
              <a:buFont typeface="+mj-lt"/>
              <a:buAutoNum type="arabicPeriod"/>
              <a:defRPr sz="2800"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A7CF6A23-F224-50A3-C0EE-6BCCF3ECB2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81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E5D8D7-E272-DD95-54E6-939074EDB2EA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926282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884C18F-D2D8-76D3-E7AC-437FAC1DE1D7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91440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1-1 Background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15902"/>
            <a:ext cx="9143999" cy="698499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1. Introduction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26F31D16-44E6-143F-3472-9BE8ED0F0E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724025"/>
            <a:ext cx="8972332" cy="4686300"/>
          </a:xfrm>
          <a:ln>
            <a:noFill/>
          </a:ln>
        </p:spPr>
        <p:txBody>
          <a:bodyPr/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5" name="Slide Number Placeholder 34">
            <a:extLst>
              <a:ext uri="{FF2B5EF4-FFF2-40B4-BE49-F238E27FC236}">
                <a16:creationId xmlns:a16="http://schemas.microsoft.com/office/drawing/2014/main" id="{9AC8DA2F-E3FE-B703-32D0-7A3786BE2FA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5ECBB-7FBB-0EC9-80D5-94795C0DEBE3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17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B6F040-CFDD-3229-522E-62927E188AF4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1-2 Problem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23D06F8-1169-C536-2D8C-45A9350927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740AB-0A34-0569-9182-AD6A8AF99859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Slide Number Placeholder 34">
            <a:extLst>
              <a:ext uri="{FF2B5EF4-FFF2-40B4-BE49-F238E27FC236}">
                <a16:creationId xmlns:a16="http://schemas.microsoft.com/office/drawing/2014/main" id="{5A682C21-51F0-6729-DC48-D3BBFF2F5B8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8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B150FD-D9F0-3854-9E26-E975BB4FC244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1-3 Related Work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BF0CCD4-721A-BCEF-5BCD-8F562B7B8B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4" name="Slide Number Placeholder 34">
            <a:extLst>
              <a:ext uri="{FF2B5EF4-FFF2-40B4-BE49-F238E27FC236}">
                <a16:creationId xmlns:a16="http://schemas.microsoft.com/office/drawing/2014/main" id="{5D9F467B-5C75-52F5-37B5-01ED1C4D0B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F1AB33-18F7-8BF3-511D-1BEF46CE0A3E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9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B4ECEF-4D28-D429-EEC3-A80BEFBD987B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1-4 This Work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A28725A-45B3-A680-FE5A-17C3088F3E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4" name="Slide Number Placeholder 34">
            <a:extLst>
              <a:ext uri="{FF2B5EF4-FFF2-40B4-BE49-F238E27FC236}">
                <a16:creationId xmlns:a16="http://schemas.microsoft.com/office/drawing/2014/main" id="{32425F87-2AE9-F83A-914F-5D93DD552B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5396D-8977-A42D-5CD9-60C52FF2E5D8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76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8F8B8FA-5018-35AA-A90B-FF65F7A5EEA9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91440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2-1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53926"/>
            <a:ext cx="9143999" cy="660476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2. Preliminary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FB570AEC-3F06-14E2-18E1-9F28020916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724025"/>
            <a:ext cx="8972332" cy="468630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7" name="Slide Number Placeholder 34">
            <a:extLst>
              <a:ext uri="{FF2B5EF4-FFF2-40B4-BE49-F238E27FC236}">
                <a16:creationId xmlns:a16="http://schemas.microsoft.com/office/drawing/2014/main" id="{40F1E9AD-0F3D-7D54-1B18-714C362415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0A615-16ED-41B6-2918-EC4B08C8F898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209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82DB2C2-C092-CCA0-7AC3-E111ACCD9C0F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2-2 Y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6B0D7F6-64F1-2193-D994-3A76698487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5" name="Slide Number Placeholder 34">
            <a:extLst>
              <a:ext uri="{FF2B5EF4-FFF2-40B4-BE49-F238E27FC236}">
                <a16:creationId xmlns:a16="http://schemas.microsoft.com/office/drawing/2014/main" id="{B34A4423-6671-1992-0270-353C1A02FD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D0F4B-D05E-216E-C758-285B33E3125E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39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EC568E-7EE0-8F0E-97D4-90C4666F69E8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91440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3-1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15902"/>
            <a:ext cx="9143999" cy="698499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3. Proposed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912B110-0DF6-0150-B47E-BB0A2781DF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724025"/>
            <a:ext cx="8972332" cy="468630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7" name="Slide Number Placeholder 34">
            <a:extLst>
              <a:ext uri="{FF2B5EF4-FFF2-40B4-BE49-F238E27FC236}">
                <a16:creationId xmlns:a16="http://schemas.microsoft.com/office/drawing/2014/main" id="{4828EFB3-3F8C-51B3-295D-86729B1175D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3B6C-33E3-37A3-1DDB-4219B4CCD8CC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048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3-2 Y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D3C139F-27B6-B4C2-1C3F-35C198C1F5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DCFFD-1338-7E34-D12A-172007037999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DFD72-FDA4-48A0-422E-B3065AAC3418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" name="Slide Number Placeholder 34">
            <a:extLst>
              <a:ext uri="{FF2B5EF4-FFF2-40B4-BE49-F238E27FC236}">
                <a16:creationId xmlns:a16="http://schemas.microsoft.com/office/drawing/2014/main" id="{DADA88CB-4D86-E988-3C39-7B90EF20A1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93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91440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4-1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15902"/>
            <a:ext cx="9143999" cy="698500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4. Result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ECEF07BB-7D85-6B82-056C-59BBE754CB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724025"/>
            <a:ext cx="8972332" cy="4686300"/>
          </a:xfrm>
          <a:ln>
            <a:solidFill>
              <a:srgbClr val="002060"/>
            </a:solidFill>
          </a:ln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AB248-3135-1CE6-2EC3-CCD089BAD178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085EE-B06E-FFD1-92E4-DC4138A1360E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Slide Number Placeholder 34">
            <a:extLst>
              <a:ext uri="{FF2B5EF4-FFF2-40B4-BE49-F238E27FC236}">
                <a16:creationId xmlns:a16="http://schemas.microsoft.com/office/drawing/2014/main" id="{BB284DC0-3C52-9B4B-5C4D-0B5A61C5472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44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8AEFAA5-D32C-951F-E8A3-23094A7A6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2984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4-2 Y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83F19133-D21C-062F-98F4-5D7ED924A3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133475"/>
            <a:ext cx="8972332" cy="527685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4E077-D3B2-AECD-7309-B12EB043B98E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5ED53-F4C8-3CF2-5F0D-B4BAB4113CDF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" name="Slide Number Placeholder 34">
            <a:extLst>
              <a:ext uri="{FF2B5EF4-FFF2-40B4-BE49-F238E27FC236}">
                <a16:creationId xmlns:a16="http://schemas.microsoft.com/office/drawing/2014/main" id="{D03795AD-9D1A-1464-E935-1F8FC750AE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83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15902"/>
            <a:ext cx="9143999" cy="698499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5. Conclusion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F7C724B5-12D4-2430-80BC-FB49D9C04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009651"/>
            <a:ext cx="8972332" cy="2692211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0B3524CB-3BD0-3E86-0742-9BC44FDBC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3" y="3803650"/>
            <a:ext cx="8972332" cy="698500"/>
          </a:xfrm>
          <a:solidFill>
            <a:schemeClr val="bg1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2-2 Y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728FE12-38F6-0121-245C-C79E35A4AA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832" y="4603940"/>
            <a:ext cx="8972332" cy="1900587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30006-A474-BC87-E7D1-CB6096AE5A4E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FC440-379D-273D-58BF-A6DB8F769F4E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9" name="Slide Number Placeholder 34">
            <a:extLst>
              <a:ext uri="{FF2B5EF4-FFF2-40B4-BE49-F238E27FC236}">
                <a16:creationId xmlns:a16="http://schemas.microsoft.com/office/drawing/2014/main" id="{FB75DDC4-180E-CBC8-168B-66397F92FCF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32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B903-2229-0226-8C47-345F6E808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22903"/>
            <a:ext cx="9143999" cy="698499"/>
          </a:xfr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F7C724B5-12D4-2430-80BC-FB49D9C04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833" y="1009651"/>
            <a:ext cx="8972332" cy="5485403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30006-A474-BC87-E7D1-CB6096AE5A4E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FC440-379D-273D-58BF-A6DB8F769F4E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9" name="Slide Number Placeholder 34">
            <a:extLst>
              <a:ext uri="{FF2B5EF4-FFF2-40B4-BE49-F238E27FC236}">
                <a16:creationId xmlns:a16="http://schemas.microsoft.com/office/drawing/2014/main" id="{FB75DDC4-180E-CBC8-168B-66397F92FCF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508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67A474-226E-851B-1FEF-1A14BFA4B35F}"/>
              </a:ext>
            </a:extLst>
          </p:cNvPr>
          <p:cNvSpPr txBox="1"/>
          <p:nvPr userDrawn="1"/>
        </p:nvSpPr>
        <p:spPr>
          <a:xfrm>
            <a:off x="0" y="6606264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Copyright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©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2026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Mohd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Hafizuddin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Bin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Kamilin,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All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Rights</a:t>
            </a:r>
            <a:r>
              <a:rPr lang="ja-JP" alt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altLang="ja-JP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Reserved</a:t>
            </a:r>
            <a:endParaRPr lang="en-US" sz="10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Slide Number Placeholder 34">
            <a:extLst>
              <a:ext uri="{FF2B5EF4-FFF2-40B4-BE49-F238E27FC236}">
                <a16:creationId xmlns:a16="http://schemas.microsoft.com/office/drawing/2014/main" id="{34941DFA-39D5-521D-28FF-340E06F774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86600" y="6583303"/>
            <a:ext cx="2057400" cy="365126"/>
          </a:xfrm>
          <a:prstGeom prst="rect">
            <a:avLst/>
          </a:prstGeom>
        </p:spPr>
        <p:txBody>
          <a:bodyPr/>
          <a:lstStyle/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03092-0BA9-4D35-FF2A-7040950986D9}"/>
              </a:ext>
            </a:extLst>
          </p:cNvPr>
          <p:cNvSpPr txBox="1"/>
          <p:nvPr userDrawn="1"/>
        </p:nvSpPr>
        <p:spPr>
          <a:xfrm>
            <a:off x="0" y="9"/>
            <a:ext cx="9144000" cy="253916"/>
          </a:xfrm>
          <a:prstGeom prst="rect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制御情報工学科</a:t>
            </a:r>
            <a:r>
              <a:rPr 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sz="105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宇部工業高等専門学校</a:t>
            </a:r>
            <a:endParaRPr lang="en-US" sz="105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06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653891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85" r:id="rId2"/>
    <p:sldLayoutId id="2147483683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4" r:id="rId15"/>
    <p:sldLayoutId id="2147483682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35.png"/><Relationship Id="rId5" Type="http://schemas.openxmlformats.org/officeDocument/2006/relationships/image" Target="../media/image21.png"/><Relationship Id="rId10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A70003-2CA5-6DBC-62FC-E95D9C2F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ja-JP" altLang="en-US" dirty="0"/>
              <a:t>ゲームで強化学習の応用</a:t>
            </a:r>
            <a:br>
              <a:rPr lang="en-US" altLang="ja-JP" dirty="0"/>
            </a:br>
            <a:r>
              <a:rPr lang="ja-JP" altLang="en-US" dirty="0"/>
              <a:t>を体験してみよう！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C8E755-1569-4E6B-5BAD-094FDDCF14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791" y="4295776"/>
            <a:ext cx="8657079" cy="2139530"/>
          </a:xfrm>
        </p:spPr>
        <p:txBody>
          <a:bodyPr anchor="ctr">
            <a:normAutofit/>
          </a:bodyPr>
          <a:lstStyle/>
          <a:p>
            <a:pPr algn="just">
              <a:buNone/>
            </a:pPr>
            <a:r>
              <a:rPr lang="ja-JP" altLang="en-US" sz="2700" dirty="0"/>
              <a:t>ゲームを題材に、</a:t>
            </a:r>
            <a:r>
              <a:rPr lang="en-US" altLang="ja-JP" sz="2700" dirty="0"/>
              <a:t>AI</a:t>
            </a:r>
            <a:r>
              <a:rPr lang="ja-JP" altLang="en-US" sz="2700" dirty="0"/>
              <a:t>が試行錯誤しながら学習する「強化学習」を体験する。</a:t>
            </a:r>
            <a:endParaRPr lang="en-US" altLang="ja-JP" sz="2700" dirty="0"/>
          </a:p>
          <a:p>
            <a:pPr algn="just">
              <a:buNone/>
            </a:pPr>
            <a:r>
              <a:rPr lang="ja-JP" altLang="en-US" sz="2700" dirty="0"/>
              <a:t>強化学習を動かしながら、よりよい行動を選ぶ仕組みを学び、ゲームや身近な問題への応用について考えてみましょう。</a:t>
            </a:r>
            <a:endParaRPr lang="en-US" sz="27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2BCF99-412D-5987-4E2D-7DE404AF9F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回オープンキャンパス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43A26-720F-3540-4190-875C7BE058D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anchor="ctr"/>
          <a:lstStyle/>
          <a:p>
            <a:fld id="{CBD12358-51D2-46B3-9BDE-DF29528B945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72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BF8F09-E3BE-26B5-DED6-9C131156EA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ja-JP" dirty="0"/>
              <a:t>1-1 </a:t>
            </a:r>
            <a:r>
              <a:rPr lang="ja-JP" altLang="en-US" dirty="0"/>
              <a:t>この中で、</a:t>
            </a:r>
            <a:r>
              <a:rPr lang="en-US" altLang="ja-JP" dirty="0"/>
              <a:t>AI</a:t>
            </a:r>
            <a:r>
              <a:rPr lang="ja-JP" altLang="en-US" dirty="0"/>
              <a:t>（人工知能）はどれ？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7F5B5B-410F-6732-970F-1877F90F2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ja-JP" altLang="en-US" dirty="0"/>
              <a:t>概要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6C750F-DBC7-D1E3-79FF-536632ACF0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5763994"/>
            <a:ext cx="8972332" cy="6994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dirty="0"/>
              <a:t>コンピュータは</a:t>
            </a:r>
            <a:r>
              <a:rPr lang="ja-JP" altLang="en-US" dirty="0">
                <a:solidFill>
                  <a:srgbClr val="FF0000"/>
                </a:solidFill>
              </a:rPr>
              <a:t>決められた指示に従っている</a:t>
            </a:r>
            <a:r>
              <a:rPr lang="ja-JP" altLang="en-US" dirty="0"/>
              <a:t>のか、それとも</a:t>
            </a:r>
            <a:r>
              <a:rPr lang="ja-JP" altLang="en-US" dirty="0">
                <a:solidFill>
                  <a:srgbClr val="22BA67"/>
                </a:solidFill>
              </a:rPr>
              <a:t>経験から学習している</a:t>
            </a:r>
            <a:r>
              <a:rPr lang="ja-JP" altLang="en-US" dirty="0"/>
              <a:t>のか？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D1FA0-4073-D0BB-A7A3-11B1784BC8A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F099447-0039-3F40-C292-11359CB3D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853" y="2104709"/>
            <a:ext cx="1790252" cy="179025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53DC56C-2E93-ED58-BFC2-DC48D427D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5200" y="2104709"/>
            <a:ext cx="1790252" cy="179025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3FFA03F-2853-BEF3-8FD3-A31983AEA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9040" y="2104709"/>
            <a:ext cx="1790253" cy="179025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B33EDA2-7B3E-D3CD-039B-84ED70E80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2881" y="2096677"/>
            <a:ext cx="1790252" cy="17902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05863FC-20A6-B28A-373A-F6511172C165}"/>
              </a:ext>
            </a:extLst>
          </p:cNvPr>
          <p:cNvSpPr txBox="1"/>
          <p:nvPr/>
        </p:nvSpPr>
        <p:spPr>
          <a:xfrm>
            <a:off x="873299" y="410836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① 電卓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19DB01-88A9-D5A1-02ED-68439B8B960C}"/>
              </a:ext>
            </a:extLst>
          </p:cNvPr>
          <p:cNvSpPr txBox="1"/>
          <p:nvPr/>
        </p:nvSpPr>
        <p:spPr>
          <a:xfrm>
            <a:off x="2664230" y="410836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 顔認証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84DD36-B5E5-3029-7B07-F2B8D88E817A}"/>
              </a:ext>
            </a:extLst>
          </p:cNvPr>
          <p:cNvSpPr txBox="1"/>
          <p:nvPr/>
        </p:nvSpPr>
        <p:spPr>
          <a:xfrm>
            <a:off x="4340989" y="3969860"/>
            <a:ext cx="2366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 決められたルール</a:t>
            </a:r>
            <a:endParaRPr lang="en-US" altLang="ja-JP" dirty="0"/>
          </a:p>
          <a:p>
            <a:pPr algn="ctr"/>
            <a:r>
              <a:rPr lang="ja-JP" altLang="en-US" dirty="0"/>
              <a:t>で動くゲームの敵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987BDF-0F3A-099A-816B-536FE6CF5107}"/>
              </a:ext>
            </a:extLst>
          </p:cNvPr>
          <p:cNvSpPr txBox="1"/>
          <p:nvPr/>
        </p:nvSpPr>
        <p:spPr>
          <a:xfrm>
            <a:off x="6825662" y="3969860"/>
            <a:ext cx="1904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④ 歩き方を学習</a:t>
            </a:r>
            <a:endParaRPr lang="en-US" altLang="ja-JP" dirty="0"/>
          </a:p>
          <a:p>
            <a:pPr algn="ctr"/>
            <a:r>
              <a:rPr lang="ja-JP" altLang="en-US" dirty="0"/>
              <a:t>するロボット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17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08723-E5A5-BA28-534A-F827C14292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1-2</a:t>
            </a:r>
            <a:r>
              <a:rPr lang="ja-JP" altLang="en-US" dirty="0"/>
              <a:t> 人工知能・機械学習・深層学習の関係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59E28-68B9-619D-09FF-269DB618C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05581"/>
            <a:ext cx="8972332" cy="1341405"/>
          </a:xfrm>
        </p:spPr>
        <p:txBody>
          <a:bodyPr>
            <a:noAutofit/>
          </a:bodyPr>
          <a:lstStyle/>
          <a:p>
            <a:r>
              <a:rPr lang="ja-JP" altLang="en-US" dirty="0"/>
              <a:t>人工知能 </a:t>
            </a:r>
            <a:r>
              <a:rPr lang="en-US" altLang="ja-JP" dirty="0"/>
              <a:t>(AI)</a:t>
            </a:r>
            <a:r>
              <a:rPr lang="ja-JP" altLang="en-US" dirty="0"/>
              <a:t>：人間のような知能を人工的に再現する技術</a:t>
            </a:r>
          </a:p>
          <a:p>
            <a:r>
              <a:rPr lang="ja-JP" altLang="en-US" dirty="0">
                <a:solidFill>
                  <a:srgbClr val="00B050"/>
                </a:solidFill>
              </a:rPr>
              <a:t>機械学習 </a:t>
            </a:r>
            <a:r>
              <a:rPr lang="en-US" altLang="ja-JP" dirty="0">
                <a:solidFill>
                  <a:srgbClr val="00B050"/>
                </a:solidFill>
              </a:rPr>
              <a:t>(ML)</a:t>
            </a:r>
            <a:r>
              <a:rPr lang="ja-JP" altLang="en-US" dirty="0"/>
              <a:t>：</a:t>
            </a:r>
            <a:r>
              <a:rPr lang="en-US" altLang="ja-JP" dirty="0"/>
              <a:t>AI</a:t>
            </a:r>
            <a:r>
              <a:rPr lang="ja-JP" altLang="en-US" dirty="0"/>
              <a:t>の一種。データから学習し特定の課題を解決</a:t>
            </a:r>
          </a:p>
          <a:p>
            <a:r>
              <a:rPr lang="ja-JP" altLang="en-US" dirty="0"/>
              <a:t>深層学習 </a:t>
            </a:r>
            <a:r>
              <a:rPr lang="en-US" altLang="ja-JP" dirty="0"/>
              <a:t>(DL)</a:t>
            </a:r>
            <a:r>
              <a:rPr lang="ja-JP" altLang="en-US" dirty="0"/>
              <a:t>：</a:t>
            </a:r>
            <a:r>
              <a:rPr lang="en-US" altLang="ja-JP" dirty="0"/>
              <a:t>ML</a:t>
            </a:r>
            <a:r>
              <a:rPr lang="ja-JP" altLang="en-US" dirty="0"/>
              <a:t>の一種。脳型ニューラルネットワークを活用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5FB5F-596B-BA91-5156-0DBADCB94F2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F29FFE0-36C4-61A7-E912-ACFA49CC4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391432" y="2440563"/>
            <a:ext cx="6108621" cy="39924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A2F190B3-60EE-AD55-7E35-1B33FE2FC8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3418" y="5112912"/>
            <a:ext cx="838131" cy="8381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8001090-D4FE-15A5-5A76-4F56ABCA6696}"/>
              </a:ext>
            </a:extLst>
          </p:cNvPr>
          <p:cNvSpPr txBox="1"/>
          <p:nvPr/>
        </p:nvSpPr>
        <p:spPr>
          <a:xfrm>
            <a:off x="212337" y="4935380"/>
            <a:ext cx="20313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dirty="0"/>
              <a:t>今日のテーマ</a:t>
            </a:r>
            <a:endParaRPr lang="en-US" altLang="ja-JP" sz="2400" dirty="0"/>
          </a:p>
          <a:p>
            <a:pPr algn="ctr"/>
            <a:r>
              <a:rPr lang="en-US" altLang="ja-JP" dirty="0"/>
              <a:t>Q</a:t>
            </a:r>
            <a:r>
              <a:rPr lang="ja-JP" altLang="en-US" dirty="0"/>
              <a:t>ラーニングの</a:t>
            </a:r>
            <a:endParaRPr lang="en-US" altLang="ja-JP" dirty="0"/>
          </a:p>
          <a:p>
            <a:pPr algn="ctr"/>
            <a:r>
              <a:rPr lang="ja-JP" altLang="en-US" dirty="0"/>
              <a:t>強化学習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ED899E4-6B8E-EF47-8631-A6854803A394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243662" y="5443212"/>
            <a:ext cx="1123482" cy="0"/>
          </a:xfrm>
          <a:prstGeom prst="straightConnector1">
            <a:avLst/>
          </a:prstGeom>
          <a:ln w="57150" cap="rnd">
            <a:solidFill>
              <a:srgbClr val="FFC107"/>
            </a:solidFill>
            <a:round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43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8594C3-465C-8601-1920-AA298CE321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1-3</a:t>
            </a:r>
            <a:r>
              <a:rPr lang="ja-JP" altLang="en-US" dirty="0"/>
              <a:t> 機械学習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E7844-7F64-8F2C-9B24-54E1EEC447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AC6189-7EE8-4AF2-2A48-AD19F2980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59682" y="3119718"/>
            <a:ext cx="8624632" cy="334616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A3CBADD-E650-D643-8D0C-DADE0C8B30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05581"/>
            <a:ext cx="8972332" cy="201413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ja-JP" altLang="en-US" dirty="0"/>
              <a:t>機械学習とは：</a:t>
            </a:r>
            <a:endParaRPr lang="en-US" altLang="ja-JP" dirty="0"/>
          </a:p>
          <a:p>
            <a:pPr algn="just"/>
            <a:r>
              <a:rPr lang="ja-JP" altLang="en-US" dirty="0"/>
              <a:t>大量の構造化・非構造化データからプログラムが学習し知識やパターンを引き出す技術</a:t>
            </a:r>
            <a:endParaRPr lang="en-US" altLang="ja-JP" dirty="0"/>
          </a:p>
          <a:p>
            <a:pPr algn="just"/>
            <a:r>
              <a:rPr lang="ja-JP" altLang="en-US" dirty="0"/>
              <a:t>音声認識，迷惑メールフィルタ，自動運転アシスト，顔認識、レコメンド等に活用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3872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3FEC3F-36A2-EE99-4544-9292C2FDBB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1-4 </a:t>
            </a:r>
            <a:r>
              <a:rPr lang="ja-JP" altLang="en-US" dirty="0"/>
              <a:t>強化学習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47D9C-7F7B-E1BC-5BDE-19BC53D3E8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5"/>
            <a:ext cx="3507374" cy="5276850"/>
          </a:xfrm>
        </p:spPr>
        <p:txBody>
          <a:bodyPr anchor="ctr"/>
          <a:lstStyle/>
          <a:p>
            <a:pPr marL="0" indent="0" algn="just">
              <a:buNone/>
            </a:pPr>
            <a:r>
              <a:rPr lang="ja-JP" altLang="en-US" dirty="0"/>
              <a:t>強化学習とは、環境との相互作用を通じて行動を改善していく学習手法である。エージェントは環境下で行動し、その結果として報酬が与えられる。</a:t>
            </a:r>
            <a:endParaRPr lang="en-US" altLang="ja-JP" dirty="0"/>
          </a:p>
          <a:p>
            <a:pPr marL="0" indent="0" algn="just">
              <a:buNone/>
            </a:pPr>
            <a:endParaRPr lang="en-US" altLang="ja-JP" dirty="0"/>
          </a:p>
          <a:p>
            <a:pPr marL="0" indent="0" algn="just">
              <a:buNone/>
            </a:pPr>
            <a:r>
              <a:rPr lang="ja-JP" altLang="en-US" dirty="0"/>
              <a:t>この報酬をフィードバックとして利用し、どの行動が望ましいかを学習し、より高い報酬を得られる行動を選択できるようになる。</a:t>
            </a: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E9695-B3D6-927E-F29D-106C99E570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BE26E-715A-F199-23D6-397C06FAF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07414" y="1559641"/>
            <a:ext cx="5017645" cy="403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1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B47CE5-138A-6769-D82C-FB8230D44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1-5 </a:t>
            </a:r>
            <a:r>
              <a:rPr lang="ja-JP" altLang="en-US" dirty="0"/>
              <a:t>強化学習は魔法ではない（経験から学ぶ）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9F0B8-4C9C-5B63-3AF5-BF4C805963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39">
            <a:extLst>
              <a:ext uri="{FF2B5EF4-FFF2-40B4-BE49-F238E27FC236}">
                <a16:creationId xmlns:a16="http://schemas.microsoft.com/office/drawing/2014/main" id="{2F7FF532-D5C3-42FF-7A30-A74FC505EA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2507" y="2909225"/>
            <a:ext cx="1828800" cy="1823789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7E08367F-D91E-E444-A693-6409D04FEAF3}"/>
              </a:ext>
            </a:extLst>
          </p:cNvPr>
          <p:cNvSpPr/>
          <p:nvPr/>
        </p:nvSpPr>
        <p:spPr>
          <a:xfrm>
            <a:off x="2243697" y="3683578"/>
            <a:ext cx="274320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39">
            <a:extLst>
              <a:ext uri="{FF2B5EF4-FFF2-40B4-BE49-F238E27FC236}">
                <a16:creationId xmlns:a16="http://schemas.microsoft.com/office/drawing/2014/main" id="{A6C4A4E4-1968-CD98-5EA7-E2F78E077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580407" y="2909223"/>
            <a:ext cx="1828800" cy="1823789"/>
          </a:xfrm>
          <a:prstGeom prst="rect">
            <a:avLst/>
          </a:prstGeom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EE89FE1B-618B-AA2C-6380-F145D7A35BDD}"/>
              </a:ext>
            </a:extLst>
          </p:cNvPr>
          <p:cNvSpPr/>
          <p:nvPr/>
        </p:nvSpPr>
        <p:spPr>
          <a:xfrm>
            <a:off x="3761051" y="3648071"/>
            <a:ext cx="476518" cy="345740"/>
          </a:xfrm>
          <a:prstGeom prst="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B3497867-EF23-4025-A354-D3ED2AC772F1}"/>
              </a:ext>
            </a:extLst>
          </p:cNvPr>
          <p:cNvSpPr/>
          <p:nvPr/>
        </p:nvSpPr>
        <p:spPr>
          <a:xfrm rot="5400000">
            <a:off x="3274297" y="4129246"/>
            <a:ext cx="476518" cy="345740"/>
          </a:xfrm>
          <a:prstGeom prst="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6D7BC972-B8BF-C4F0-2664-55B44B61300B}"/>
              </a:ext>
            </a:extLst>
          </p:cNvPr>
          <p:cNvSpPr/>
          <p:nvPr/>
        </p:nvSpPr>
        <p:spPr>
          <a:xfrm rot="10800000">
            <a:off x="2763461" y="3648071"/>
            <a:ext cx="476518" cy="345740"/>
          </a:xfrm>
          <a:prstGeom prst="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DAF02657-8FA2-6652-A012-CE013F5BEA52}"/>
              </a:ext>
            </a:extLst>
          </p:cNvPr>
          <p:cNvSpPr/>
          <p:nvPr/>
        </p:nvSpPr>
        <p:spPr>
          <a:xfrm rot="16200000">
            <a:off x="3274297" y="3132695"/>
            <a:ext cx="476518" cy="345740"/>
          </a:xfrm>
          <a:prstGeom prst="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EE97C9B3-F9FB-547A-B0BD-C0CF6AA6F9E6}"/>
              </a:ext>
            </a:extLst>
          </p:cNvPr>
          <p:cNvSpPr/>
          <p:nvPr/>
        </p:nvSpPr>
        <p:spPr>
          <a:xfrm>
            <a:off x="4471597" y="3483553"/>
            <a:ext cx="274320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DB94E8A-48FF-5F69-B3FA-818B212D9D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75" b="3791"/>
          <a:stretch>
            <a:fillRect/>
          </a:stretch>
        </p:blipFill>
        <p:spPr>
          <a:xfrm>
            <a:off x="4808307" y="2909223"/>
            <a:ext cx="1828800" cy="182378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AD127BD-73A3-7F86-5EDE-2C931659F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207" y="2907426"/>
            <a:ext cx="1828800" cy="1825586"/>
          </a:xfrm>
          <a:prstGeom prst="rect">
            <a:avLst/>
          </a:prstGeom>
        </p:spPr>
      </p:pic>
      <p:sp>
        <p:nvSpPr>
          <p:cNvPr id="45" name="Arrow: Right 44">
            <a:extLst>
              <a:ext uri="{FF2B5EF4-FFF2-40B4-BE49-F238E27FC236}">
                <a16:creationId xmlns:a16="http://schemas.microsoft.com/office/drawing/2014/main" id="{2FA440D1-FDCD-3E6E-5EE1-88D690535D40}"/>
              </a:ext>
            </a:extLst>
          </p:cNvPr>
          <p:cNvSpPr/>
          <p:nvPr/>
        </p:nvSpPr>
        <p:spPr>
          <a:xfrm>
            <a:off x="6699497" y="3712153"/>
            <a:ext cx="274320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B7DFC9-463D-8E68-0E6F-9474AFA7A821}"/>
              </a:ext>
            </a:extLst>
          </p:cNvPr>
          <p:cNvSpPr txBox="1"/>
          <p:nvPr/>
        </p:nvSpPr>
        <p:spPr>
          <a:xfrm>
            <a:off x="366660" y="250143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ある状態にいる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8DA22B-83FA-7712-D569-C0102D928738}"/>
              </a:ext>
            </a:extLst>
          </p:cNvPr>
          <p:cNvSpPr txBox="1"/>
          <p:nvPr/>
        </p:nvSpPr>
        <p:spPr>
          <a:xfrm>
            <a:off x="2825393" y="25014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行動を選ぶ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A97642-5B5A-2C2A-D500-F35B4B71FE3B}"/>
              </a:ext>
            </a:extLst>
          </p:cNvPr>
          <p:cNvSpPr txBox="1"/>
          <p:nvPr/>
        </p:nvSpPr>
        <p:spPr>
          <a:xfrm>
            <a:off x="4823914" y="250143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結果を受け取る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9397C4-C501-D2D8-BADD-9E2F45F3EE39}"/>
              </a:ext>
            </a:extLst>
          </p:cNvPr>
          <p:cNvSpPr txBox="1"/>
          <p:nvPr/>
        </p:nvSpPr>
        <p:spPr>
          <a:xfrm>
            <a:off x="6934944" y="2501431"/>
            <a:ext cx="20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学習して上達する</a:t>
            </a: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3F1F5DD9-B2E7-BCE1-8645-723ADC770C20}"/>
              </a:ext>
            </a:extLst>
          </p:cNvPr>
          <p:cNvSpPr/>
          <p:nvPr/>
        </p:nvSpPr>
        <p:spPr>
          <a:xfrm rot="10800000">
            <a:off x="4470889" y="3831447"/>
            <a:ext cx="274320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C72BFA64-2316-CDEE-BE68-8C38666023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4"/>
            <a:ext cx="8972332" cy="54260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ja-JP" altLang="en-US" dirty="0"/>
              <a:t>ネズミは、何度も挑戦しながら、うまくいった行動を少しずつ覚えていく。</a:t>
            </a:r>
            <a:endParaRPr lang="en-US" altLang="ja-JP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spcBef>
                <a:spcPts val="600"/>
              </a:spcBef>
              <a:buNone/>
            </a:pPr>
            <a:r>
              <a:rPr lang="en-US" altLang="ja-JP" dirty="0"/>
              <a:t>※</a:t>
            </a:r>
            <a:r>
              <a:rPr lang="ja-JP" altLang="en-US" dirty="0"/>
              <a:t>　完全な答えは、誰も教えてくれない</a:t>
            </a:r>
            <a:endParaRPr lang="en-US" altLang="ja-JP" dirty="0"/>
          </a:p>
          <a:p>
            <a:pPr marL="0" indent="0" algn="just">
              <a:spcBef>
                <a:spcPts val="0"/>
              </a:spcBef>
              <a:buNone/>
            </a:pPr>
            <a:r>
              <a:rPr lang="ja-JP" altLang="en-US" dirty="0"/>
              <a:t>　　</a:t>
            </a:r>
            <a:r>
              <a:rPr lang="ja-JP" altLang="en-US" sz="1800" dirty="0"/>
              <a:t>エージェントは、試行錯誤しながら学ぶ</a:t>
            </a:r>
            <a:endParaRPr lang="en-US" sz="1800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91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0" grpId="0" animBg="1"/>
      <p:bldP spid="31" grpId="0" animBg="1"/>
      <p:bldP spid="32" grpId="0" animBg="1"/>
      <p:bldP spid="33" grpId="0" animBg="1"/>
      <p:bldP spid="37" grpId="0" animBg="1"/>
      <p:bldP spid="45" grpId="0" animBg="1"/>
      <p:bldP spid="46" grpId="0"/>
      <p:bldP spid="48" grpId="0"/>
      <p:bldP spid="50" grpId="0"/>
      <p:bldP spid="52" grpId="0"/>
      <p:bldP spid="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8E196E-1A92-BD57-5BB8-17F0202DDF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1-6 </a:t>
            </a:r>
            <a:r>
              <a:rPr lang="ja-JP" altLang="en-US" dirty="0"/>
              <a:t>よくある誤解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E58F6-6C70-8DBE-048B-36DF1048266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4E6FB19-27BB-734A-A0CB-869496756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711772"/>
              </p:ext>
            </p:extLst>
          </p:nvPr>
        </p:nvGraphicFramePr>
        <p:xfrm>
          <a:off x="242047" y="1765790"/>
          <a:ext cx="8659906" cy="407098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329953">
                  <a:extLst>
                    <a:ext uri="{9D8B030D-6E8A-4147-A177-3AD203B41FA5}">
                      <a16:colId xmlns:a16="http://schemas.microsoft.com/office/drawing/2014/main" val="1523101391"/>
                    </a:ext>
                  </a:extLst>
                </a:gridCol>
                <a:gridCol w="4329953">
                  <a:extLst>
                    <a:ext uri="{9D8B030D-6E8A-4147-A177-3AD203B41FA5}">
                      <a16:colId xmlns:a16="http://schemas.microsoft.com/office/drawing/2014/main" val="957662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質問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解答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272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人工知能はロボットのこと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人工知能は、体を持たないソフトウェアの場合もある。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726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人工知能は人間とまったく同じように考える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多くの人工知能は、パターンを見つけたり、行動を選んだりしている。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039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人工知能はいつも正しい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人工知能も自信ありげに間違えることがある。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37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人工知能は完全に自分だけで学ぶ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どんなデータを使うか、何を目標にするか、どんなルールや報酬にするかは、人間が決める。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588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962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31DD9F-C7E1-914C-7B49-212B85B029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1-7 </a:t>
            </a:r>
            <a:r>
              <a:rPr lang="ja-JP" altLang="en-US" dirty="0"/>
              <a:t>キーポイント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0B12D-D6EA-394F-72D5-1F25A391B3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5"/>
            <a:ext cx="8972332" cy="3438525"/>
          </a:xfrm>
        </p:spPr>
        <p:txBody>
          <a:bodyPr anchor="ctr"/>
          <a:lstStyle/>
          <a:p>
            <a:pPr marL="0" indent="0">
              <a:buNone/>
            </a:pPr>
            <a:r>
              <a:rPr lang="ja-JP" altLang="en-US" b="1" dirty="0"/>
              <a:t>強化学習は：</a:t>
            </a:r>
            <a:endParaRPr lang="en-US" altLang="ja-JP" b="1" dirty="0"/>
          </a:p>
          <a:p>
            <a:pPr>
              <a:buFont typeface="Wingdings" panose="05000000000000000000" pitchFamily="2" charset="2"/>
              <a:buChar char="Ø"/>
            </a:pPr>
            <a:endParaRPr lang="en-US" altLang="ja-JP" dirty="0"/>
          </a:p>
          <a:p>
            <a:pPr marL="463550" indent="-463550">
              <a:buFont typeface="Wingdings" panose="05000000000000000000" pitchFamily="2" charset="2"/>
              <a:buChar char="Ø"/>
            </a:pPr>
            <a:r>
              <a:rPr lang="ja-JP" altLang="en-US" dirty="0"/>
              <a:t>人間が報酬を決め、何を学ぶかを導く。</a:t>
            </a:r>
            <a:endParaRPr lang="en-US" altLang="ja-JP" dirty="0"/>
          </a:p>
          <a:p>
            <a:pPr marL="463550" indent="-463550">
              <a:buFont typeface="Wingdings" panose="05000000000000000000" pitchFamily="2" charset="2"/>
              <a:buChar char="Ø"/>
            </a:pPr>
            <a:r>
              <a:rPr lang="ja-JP" altLang="en-US" dirty="0"/>
              <a:t>最初から正解を知っているわけではない。</a:t>
            </a:r>
          </a:p>
          <a:p>
            <a:pPr marL="463550" indent="-463550">
              <a:buFont typeface="Wingdings" panose="05000000000000000000" pitchFamily="2" charset="2"/>
              <a:buChar char="Ø"/>
            </a:pPr>
            <a:r>
              <a:rPr lang="ja-JP" altLang="en-US" dirty="0"/>
              <a:t>何度も試し、失敗しながら、その結果から学ぶ。</a:t>
            </a:r>
          </a:p>
          <a:p>
            <a:pPr marL="463550" indent="-463550">
              <a:buFont typeface="Wingdings" panose="05000000000000000000" pitchFamily="2" charset="2"/>
              <a:buChar char="Ø"/>
            </a:pPr>
            <a:r>
              <a:rPr lang="ja-JP" altLang="en-US" dirty="0"/>
              <a:t>経験を重ねるほど、より良い行動を選べるようになる。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8AA35-DE61-B4D8-ADD7-7F3A9F6FB3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8EBAEBD-5A08-E438-DF55-BD708D66F202}"/>
              </a:ext>
            </a:extLst>
          </p:cNvPr>
          <p:cNvSpPr txBox="1">
            <a:spLocks/>
          </p:cNvSpPr>
          <p:nvPr/>
        </p:nvSpPr>
        <p:spPr>
          <a:xfrm>
            <a:off x="66501" y="5094289"/>
            <a:ext cx="1034636" cy="746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dirty="0"/>
              <a:t>🤔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918336A-90CB-9206-2014-F0326A6FFADC}"/>
              </a:ext>
            </a:extLst>
          </p:cNvPr>
          <p:cNvSpPr/>
          <p:nvPr/>
        </p:nvSpPr>
        <p:spPr>
          <a:xfrm>
            <a:off x="1274990" y="4778058"/>
            <a:ext cx="7387770" cy="1408207"/>
          </a:xfrm>
          <a:prstGeom prst="roundRect">
            <a:avLst>
              <a:gd name="adj" fmla="val 654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ja-JP" altLang="en-US" sz="2800" dirty="0">
                <a:solidFill>
                  <a:schemeClr val="tx1"/>
                </a:solidFill>
              </a:rPr>
              <a:t>人工知能は魔法ではなく、すべてを自動的に理解するものでもない。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just"/>
            <a:r>
              <a:rPr lang="ja-JP" altLang="en-US" dirty="0">
                <a:solidFill>
                  <a:schemeClr val="tx1"/>
                </a:solidFill>
              </a:rPr>
              <a:t>人間が与えた情報や目標をもとに、パターンや行動を学習する。</a:t>
            </a:r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1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F9D925-9303-95F8-0091-A8B257B559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2-1 </a:t>
            </a:r>
            <a:r>
              <a:rPr lang="ja-JP" altLang="en-US" dirty="0"/>
              <a:t>ゲーム画面の見方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0F7667-0AC0-A4DB-FFFE-BB7470E5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</a:t>
            </a:r>
            <a:r>
              <a:rPr lang="ja-JP" altLang="en-US" dirty="0"/>
              <a:t>迷路ゲーム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BB0BCF-76F9-8E4B-D4C5-77586EE727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2" y="1823776"/>
            <a:ext cx="3383081" cy="47595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b="1" dirty="0"/>
              <a:t>① 矢印キー</a:t>
            </a:r>
            <a:endParaRPr lang="en-US" altLang="ja-JP" b="1" dirty="0"/>
          </a:p>
          <a:p>
            <a:pPr marL="0" indent="0" algn="just">
              <a:buNone/>
            </a:pPr>
            <a:r>
              <a:rPr lang="ja-JP" altLang="en-US" dirty="0"/>
              <a:t>キーボードの「</a:t>
            </a:r>
            <a:r>
              <a:rPr lang="ja-JP" altLang="en-US" dirty="0">
                <a:solidFill>
                  <a:srgbClr val="EE7660"/>
                </a:solidFill>
              </a:rPr>
              <a:t>↑ ↓ ← →</a:t>
            </a:r>
            <a:r>
              <a:rPr lang="ja-JP" altLang="en-US" dirty="0"/>
              <a:t>」で、ネズミを上下左右に動かす。</a:t>
            </a:r>
            <a:endParaRPr lang="en-US" altLang="ja-JP" dirty="0"/>
          </a:p>
          <a:p>
            <a:pPr marL="0" indent="0" algn="just">
              <a:buNone/>
            </a:pPr>
            <a:r>
              <a:rPr lang="ja-JP" altLang="en-US" b="1" dirty="0"/>
              <a:t>② ログ</a:t>
            </a:r>
            <a:endParaRPr lang="en-US" altLang="ja-JP" b="1" dirty="0"/>
          </a:p>
          <a:p>
            <a:pPr marL="0" indent="0" algn="just">
              <a:buNone/>
            </a:pPr>
            <a:r>
              <a:rPr lang="ja-JP" altLang="en-US" dirty="0"/>
              <a:t>ネズミが進んだ方向と、残りのエネルギーが順番に記録される。</a:t>
            </a:r>
            <a:endParaRPr lang="en-US" altLang="ja-JP" dirty="0"/>
          </a:p>
          <a:p>
            <a:pPr marL="0" indent="0" algn="just">
              <a:buNone/>
            </a:pPr>
            <a:r>
              <a:rPr lang="ja-JP" altLang="en-US" b="1" dirty="0"/>
              <a:t>③ マップ再読み込 </a:t>
            </a:r>
            <a:r>
              <a:rPr lang="en-US" altLang="ja-JP" b="1" dirty="0"/>
              <a:t>(</a:t>
            </a:r>
            <a:r>
              <a:rPr lang="en-US" altLang="ja-JP" b="1" dirty="0">
                <a:solidFill>
                  <a:srgbClr val="EE7660"/>
                </a:solidFill>
              </a:rPr>
              <a:t>F5</a:t>
            </a:r>
            <a:r>
              <a:rPr lang="en-US" altLang="ja-JP" b="1" dirty="0"/>
              <a:t>)</a:t>
            </a:r>
          </a:p>
          <a:p>
            <a:pPr marL="0" indent="0" algn="just">
              <a:buNone/>
            </a:pPr>
            <a:r>
              <a:rPr lang="ja-JP" altLang="en-US" dirty="0"/>
              <a:t>ゲームを最初からやり直すときに押す。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F5C62-B648-B1F4-00E5-622D9D7E3D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17AFE8-0A15-C324-95B1-98523561F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6582" y="1874985"/>
            <a:ext cx="5531583" cy="4399303"/>
          </a:xfrm>
          <a:prstGeom prst="rect">
            <a:avLst/>
          </a:prstGeom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8B751B-419F-EC1D-2222-7457248FA4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93" t="25284" r="17552" b="31341"/>
          <a:stretch>
            <a:fillRect/>
          </a:stretch>
        </p:blipFill>
        <p:spPr>
          <a:xfrm>
            <a:off x="6560804" y="4203539"/>
            <a:ext cx="1828840" cy="1866912"/>
          </a:xfrm>
          <a:custGeom>
            <a:avLst/>
            <a:gdLst>
              <a:gd name="csX0" fmla="*/ 1798330 w 1828840"/>
              <a:gd name="csY0" fmla="*/ 0 h 1866912"/>
              <a:gd name="csX1" fmla="*/ 1652873 w 1828840"/>
              <a:gd name="csY1" fmla="*/ 413245 h 1866912"/>
              <a:gd name="csX2" fmla="*/ 1521979 w 1828840"/>
              <a:gd name="csY2" fmla="*/ 1635883 h 1866912"/>
              <a:gd name="csX3" fmla="*/ 292424 w 1828840"/>
              <a:gd name="csY3" fmla="*/ 1622776 h 1866912"/>
              <a:gd name="csX4" fmla="*/ 187623 w 1828840"/>
              <a:gd name="csY4" fmla="*/ 397626 h 1866912"/>
              <a:gd name="csX5" fmla="*/ 1397088 w 1828840"/>
              <a:gd name="csY5" fmla="*/ 175882 h 18669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28840" h="1866912">
                <a:moveTo>
                  <a:pt x="1798330" y="0"/>
                </a:moveTo>
                <a:lnTo>
                  <a:pt x="1652873" y="413245"/>
                </a:lnTo>
                <a:cubicBezTo>
                  <a:pt x="1930681" y="793668"/>
                  <a:pt x="1874023" y="1322891"/>
                  <a:pt x="1521979" y="1635883"/>
                </a:cubicBezTo>
                <a:cubicBezTo>
                  <a:pt x="1169935" y="1948874"/>
                  <a:pt x="637717" y="1943201"/>
                  <a:pt x="292424" y="1622776"/>
                </a:cubicBezTo>
                <a:cubicBezTo>
                  <a:pt x="-52868" y="1302351"/>
                  <a:pt x="-98232" y="772040"/>
                  <a:pt x="187623" y="397626"/>
                </a:cubicBezTo>
                <a:cubicBezTo>
                  <a:pt x="473478" y="23212"/>
                  <a:pt x="997000" y="-72771"/>
                  <a:pt x="1397088" y="175882"/>
                </a:cubicBezTo>
                <a:close/>
              </a:path>
            </a:pathLst>
          </a:cu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4776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FD9013-6C66-E9B7-8CE2-E65CE818F2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2-2 </a:t>
            </a:r>
            <a:r>
              <a:rPr lang="ja-JP" altLang="en-US" dirty="0"/>
              <a:t>エネルギー消費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36FB04-4ED9-F49B-88A6-783A59A408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2" y="1146220"/>
            <a:ext cx="5422083" cy="529761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dirty="0"/>
              <a:t>ネズミは、動くたびにエネルギー（スコア）が変化する。マスの種類によって、増減が異なる。</a:t>
            </a:r>
            <a:endParaRPr lang="en-US" altLang="ja-JP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sz="1050" dirty="0"/>
          </a:p>
          <a:p>
            <a:pPr algn="just"/>
            <a:r>
              <a:rPr lang="ja-JP" altLang="en-US" b="1" dirty="0"/>
              <a:t>罠マス：</a:t>
            </a:r>
            <a:r>
              <a:rPr lang="ja-JP" altLang="en-US" dirty="0"/>
              <a:t>わなに入ると、その場でゲームオーバーになる。</a:t>
            </a:r>
            <a:endParaRPr lang="en-US" altLang="ja-JP" dirty="0"/>
          </a:p>
          <a:p>
            <a:pPr algn="just"/>
            <a:r>
              <a:rPr lang="ja-JP" altLang="en-US" b="1" dirty="0"/>
              <a:t>空きマス：</a:t>
            </a:r>
            <a:r>
              <a:rPr lang="ja-JP" altLang="en-US" dirty="0"/>
              <a:t>ふつうに</a:t>
            </a:r>
            <a:r>
              <a:rPr lang="en-US" altLang="ja-JP" dirty="0"/>
              <a:t>1</a:t>
            </a:r>
            <a:r>
              <a:rPr lang="ja-JP" altLang="en-US" dirty="0"/>
              <a:t>マス進むと、エネルギーを</a:t>
            </a:r>
            <a:r>
              <a:rPr lang="en-US" altLang="ja-JP" dirty="0"/>
              <a:t>1</a:t>
            </a:r>
            <a:r>
              <a:rPr lang="ja-JP" altLang="en-US" dirty="0"/>
              <a:t>点使う。</a:t>
            </a:r>
            <a:endParaRPr lang="en-US" altLang="ja-JP" dirty="0"/>
          </a:p>
          <a:p>
            <a:pPr algn="just"/>
            <a:r>
              <a:rPr lang="ja-JP" altLang="en-US" b="1" dirty="0"/>
              <a:t>チーズ：</a:t>
            </a:r>
            <a:r>
              <a:rPr lang="en-US" dirty="0"/>
              <a:t>チーズにたどりつくと、30点もら</a:t>
            </a:r>
            <a:r>
              <a:rPr lang="ja-JP" altLang="en-US" dirty="0"/>
              <a:t>える。</a:t>
            </a:r>
            <a:endParaRPr lang="en-US" altLang="ja-JP" dirty="0"/>
          </a:p>
          <a:p>
            <a:pPr algn="just"/>
            <a:r>
              <a:rPr lang="ja-JP" altLang="en-US" b="1" dirty="0"/>
              <a:t>壁：</a:t>
            </a:r>
            <a:r>
              <a:rPr lang="ja-JP" altLang="en-US" dirty="0"/>
              <a:t>かべにぶつかると、</a:t>
            </a:r>
            <a:r>
              <a:rPr lang="en-US" altLang="ja-JP" dirty="0"/>
              <a:t>5</a:t>
            </a:r>
            <a:r>
              <a:rPr lang="ja-JP" altLang="en-US" dirty="0"/>
              <a:t>点減る。</a:t>
            </a:r>
            <a:endParaRPr lang="en-US" altLang="ja-JP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4CA26-8FDC-5E59-7FBE-C78E4712EB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D2AE3E-CFB0-DB6D-51AA-F025E3FD8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222121"/>
              </p:ext>
            </p:extLst>
          </p:nvPr>
        </p:nvGraphicFramePr>
        <p:xfrm>
          <a:off x="5852666" y="1578270"/>
          <a:ext cx="3062734" cy="44001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71308">
                  <a:extLst>
                    <a:ext uri="{9D8B030D-6E8A-4147-A177-3AD203B41FA5}">
                      <a16:colId xmlns:a16="http://schemas.microsoft.com/office/drawing/2014/main" val="1346491660"/>
                    </a:ext>
                  </a:extLst>
                </a:gridCol>
                <a:gridCol w="1791426">
                  <a:extLst>
                    <a:ext uri="{9D8B030D-6E8A-4147-A177-3AD203B41FA5}">
                      <a16:colId xmlns:a16="http://schemas.microsoft.com/office/drawing/2014/main" val="793859223"/>
                    </a:ext>
                  </a:extLst>
                </a:gridCol>
              </a:tblGrid>
              <a:tr h="880028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dirty="0"/>
                        <a:t>行動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dirty="0"/>
                        <a:t>エネルギー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853738"/>
                  </a:ext>
                </a:extLst>
              </a:tr>
              <a:tr h="880028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-30</a:t>
                      </a:r>
                      <a:r>
                        <a:rPr lang="ja-JP" altLang="en-US" sz="2400" dirty="0"/>
                        <a:t>点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683782"/>
                  </a:ext>
                </a:extLst>
              </a:tr>
              <a:tr h="880028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-1</a:t>
                      </a:r>
                      <a:r>
                        <a:rPr lang="ja-JP" altLang="en-US" sz="2400" dirty="0"/>
                        <a:t>点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7046196"/>
                  </a:ext>
                </a:extLst>
              </a:tr>
              <a:tr h="880028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+30</a:t>
                      </a:r>
                      <a:r>
                        <a:rPr lang="ja-JP" altLang="en-US" sz="2400" dirty="0"/>
                        <a:t>点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700896"/>
                  </a:ext>
                </a:extLst>
              </a:tr>
              <a:tr h="880028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  <a:r>
                        <a:rPr lang="ja-JP" altLang="en-US" sz="2400" dirty="0"/>
                        <a:t>点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67180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7FA812A-6180-3937-348D-526A48D3C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166" y="4191653"/>
            <a:ext cx="887442" cy="8874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E1C81E-76B9-59F0-35EE-543A38533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370" y="3459309"/>
            <a:ext cx="621792" cy="621792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5C9B05-E9B5-8071-1A07-08CA4CD58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256" y="2539263"/>
            <a:ext cx="728048" cy="7280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A783EF-D137-2101-7620-46F0E2F546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882" y="5184814"/>
            <a:ext cx="728048" cy="72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78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8173F8-F0F6-3DFC-48BC-32C5F7A5C0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2-3 </a:t>
            </a:r>
            <a:r>
              <a:rPr lang="ja-JP" altLang="en-US" dirty="0"/>
              <a:t>迷路ゲームに挑戦しよう！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05107-5D2C-67C8-E4FB-CA1016637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5"/>
            <a:ext cx="5497386" cy="4998384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デスクトップにある「迷路ゲーム</a:t>
            </a:r>
            <a:r>
              <a:rPr lang="en-US" altLang="ja-JP" dirty="0"/>
              <a:t>.exe</a:t>
            </a:r>
            <a:r>
              <a:rPr lang="ja-JP" altLang="en-US" dirty="0"/>
              <a:t>」をダブルクリックする。</a:t>
            </a:r>
            <a:endParaRPr lang="en-US" altLang="ja-JP" dirty="0"/>
          </a:p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ゲームが起動するまで待つ。</a:t>
            </a:r>
            <a:endParaRPr lang="en-US" altLang="ja-JP" dirty="0"/>
          </a:p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キーボードの「</a:t>
            </a:r>
            <a:r>
              <a:rPr lang="ja-JP" altLang="en-US" dirty="0">
                <a:solidFill>
                  <a:srgbClr val="EE7660"/>
                </a:solidFill>
              </a:rPr>
              <a:t>↑ ↓ ← →</a:t>
            </a:r>
            <a:r>
              <a:rPr lang="ja-JP" altLang="en-US" dirty="0"/>
              <a:t>」でネズミを操作する。</a:t>
            </a:r>
            <a:endParaRPr lang="en-US" altLang="ja-JP" dirty="0"/>
          </a:p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「ゲームオーバー」または「クリア」が表示されたら、「マップ再読み込」ボタンを押してリセットする。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ja-JP" altLang="en-US" b="1" dirty="0">
                <a:solidFill>
                  <a:srgbClr val="EE7660"/>
                </a:solidFill>
              </a:rPr>
              <a:t>チャレンジ</a:t>
            </a:r>
            <a:endParaRPr lang="en-US" altLang="ja-JP" b="1" dirty="0">
              <a:solidFill>
                <a:srgbClr val="EE7660"/>
              </a:solidFill>
            </a:endParaRPr>
          </a:p>
          <a:p>
            <a:pPr marL="0" indent="0" algn="just">
              <a:buNone/>
            </a:pPr>
            <a:r>
              <a:rPr lang="ja-JP" altLang="en-US" dirty="0"/>
              <a:t>できるだけ多くのエネルギーを残して、ゲームをクリアしよう！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1801C-462E-BF59-6045-11F9ED8214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AA1BB9-141F-F169-4888-CFF9F91BF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509" y="1382524"/>
            <a:ext cx="2534004" cy="2695951"/>
          </a:xfrm>
          <a:prstGeom prst="rect">
            <a:avLst/>
          </a:prstGeom>
        </p:spPr>
      </p:pic>
      <p:sp>
        <p:nvSpPr>
          <p:cNvPr id="5" name="Star: 8 Points 4">
            <a:extLst>
              <a:ext uri="{FF2B5EF4-FFF2-40B4-BE49-F238E27FC236}">
                <a16:creationId xmlns:a16="http://schemas.microsoft.com/office/drawing/2014/main" id="{7FDD617C-FFAE-59C9-22B8-12C666642937}"/>
              </a:ext>
            </a:extLst>
          </p:cNvPr>
          <p:cNvSpPr/>
          <p:nvPr/>
        </p:nvSpPr>
        <p:spPr>
          <a:xfrm>
            <a:off x="6093311" y="5273739"/>
            <a:ext cx="2438400" cy="914400"/>
          </a:xfrm>
          <a:prstGeom prst="star8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最大</a:t>
            </a:r>
            <a:r>
              <a:rPr lang="en-US" altLang="ja-JP" dirty="0"/>
              <a:t>40</a:t>
            </a:r>
            <a:r>
              <a:rPr lang="ja-JP" altLang="en-US" dirty="0"/>
              <a:t>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3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A8C604-B3EC-4F84-EC00-076FE4ACAF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2-4 </a:t>
            </a:r>
            <a:r>
              <a:rPr lang="en-US" altLang="ja-JP" dirty="0"/>
              <a:t>Q</a:t>
            </a:r>
            <a:r>
              <a:rPr lang="ja-JP" altLang="en-US" dirty="0"/>
              <a:t>テーブルを埋めてみよう！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06260-BD3B-9781-8A1F-44C0944AFF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2" y="1133473"/>
            <a:ext cx="8972331" cy="11589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dirty="0"/>
              <a:t>迷路を見ながら、各マスで進む方向を考える。「上・下・左・右」の中から、進みたい方向に〇をつける。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7C316-809C-C0C0-D1C3-22F306CBE66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68AFE1-34D6-6D09-B35A-1C799855D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300" y="2003978"/>
            <a:ext cx="4408778" cy="440877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20A4A1-9124-CB22-399B-8649FF79F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816921"/>
              </p:ext>
            </p:extLst>
          </p:nvPr>
        </p:nvGraphicFramePr>
        <p:xfrm>
          <a:off x="646820" y="2144299"/>
          <a:ext cx="2837177" cy="4128135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838661">
                  <a:extLst>
                    <a:ext uri="{9D8B030D-6E8A-4147-A177-3AD203B41FA5}">
                      <a16:colId xmlns:a16="http://schemas.microsoft.com/office/drawing/2014/main" val="3533546938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3580453506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2656121914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3920388811"/>
                    </a:ext>
                  </a:extLst>
                </a:gridCol>
                <a:gridCol w="499629">
                  <a:extLst>
                    <a:ext uri="{9D8B030D-6E8A-4147-A177-3AD203B41FA5}">
                      <a16:colId xmlns:a16="http://schemas.microsoft.com/office/drawing/2014/main" val="138880442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一位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上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下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右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左</a:t>
                      </a:r>
                      <a:endParaRPr lang="en-U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82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〇</a:t>
                      </a:r>
                      <a:endParaRPr lang="en-US" sz="24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8158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8113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17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5692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1077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9986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447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329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4506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049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483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1A8F-9EF3-FF73-79AF-77850827A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D16252-9E1D-C330-2BE6-930970E719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2-5 </a:t>
            </a:r>
            <a:r>
              <a:rPr lang="ja-JP" altLang="en-US" dirty="0"/>
              <a:t>キーポイント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2FE99-944D-B808-BD76-12A8264142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5"/>
            <a:ext cx="8972332" cy="3438525"/>
          </a:xfrm>
        </p:spPr>
        <p:txBody>
          <a:bodyPr anchor="ctr"/>
          <a:lstStyle/>
          <a:p>
            <a:pPr marL="0" indent="0">
              <a:buNone/>
            </a:pPr>
            <a:r>
              <a:rPr lang="en-US" altLang="ja-JP" b="1" dirty="0"/>
              <a:t>Q</a:t>
            </a:r>
            <a:r>
              <a:rPr lang="ja-JP" altLang="en-US" b="1" dirty="0"/>
              <a:t>テーブルは：</a:t>
            </a:r>
            <a:endParaRPr lang="en-US" altLang="ja-JP" b="1" dirty="0"/>
          </a:p>
          <a:p>
            <a:pPr>
              <a:buFont typeface="Wingdings" panose="05000000000000000000" pitchFamily="2" charset="2"/>
              <a:buChar char="Ø"/>
            </a:pPr>
            <a:endParaRPr lang="en-US" altLang="ja-JP" dirty="0"/>
          </a:p>
          <a:p>
            <a:pPr marL="463550" indent="-463550" algn="just">
              <a:buFont typeface="Wingdings" panose="05000000000000000000" pitchFamily="2" charset="2"/>
              <a:buChar char="Ø"/>
            </a:pPr>
            <a:r>
              <a:rPr lang="en-US" altLang="ja-JP" spc="-100" dirty="0"/>
              <a:t>Q</a:t>
            </a:r>
            <a:r>
              <a:rPr lang="ja-JP" altLang="en-US" spc="-100" dirty="0"/>
              <a:t>テーブルは、各マスでどの行動がよいかを記録する表である。</a:t>
            </a:r>
            <a:endParaRPr lang="en-US" altLang="ja-JP" spc="-100" dirty="0"/>
          </a:p>
          <a:p>
            <a:pPr marL="463550" indent="-463550" algn="just">
              <a:buFont typeface="Wingdings" panose="05000000000000000000" pitchFamily="2" charset="2"/>
              <a:buChar char="Ø"/>
            </a:pPr>
            <a:r>
              <a:rPr lang="ja-JP" altLang="en-US" spc="-100" dirty="0"/>
              <a:t>本来は〇ではなく、「上・下・右・左」のよさを数値で表す</a:t>
            </a:r>
            <a:r>
              <a:rPr lang="ja-JP" altLang="en-US" dirty="0"/>
              <a:t>。</a:t>
            </a:r>
            <a:endParaRPr lang="en-US" altLang="ja-JP" dirty="0"/>
          </a:p>
          <a:p>
            <a:pPr marL="463550" indent="-463550" algn="just">
              <a:buFont typeface="Wingdings" panose="05000000000000000000" pitchFamily="2" charset="2"/>
              <a:buChar char="Ø"/>
            </a:pPr>
            <a:r>
              <a:rPr lang="ja-JP" altLang="en-US" dirty="0"/>
              <a:t>行動した結果によって、</a:t>
            </a:r>
            <a:r>
              <a:rPr lang="en-US" altLang="ja-JP" dirty="0"/>
              <a:t>Q</a:t>
            </a:r>
            <a:r>
              <a:rPr lang="ja-JP" altLang="en-US" dirty="0"/>
              <a:t>テーブルの数値が変化する。</a:t>
            </a:r>
            <a:endParaRPr lang="en-US" altLang="ja-JP" dirty="0"/>
          </a:p>
          <a:p>
            <a:pPr marL="463550" indent="-463550" algn="just">
              <a:buFont typeface="Wingdings" panose="05000000000000000000" pitchFamily="2" charset="2"/>
              <a:buChar char="Ø"/>
            </a:pPr>
            <a:r>
              <a:rPr lang="ja-JP" altLang="en-US" dirty="0"/>
              <a:t>試行錯誤を繰り返して、よい進み方を学習する。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23856-24CB-BE9F-CB6F-9013B11300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69004DB-7FD1-717B-3966-815BF95FA6A7}"/>
              </a:ext>
            </a:extLst>
          </p:cNvPr>
          <p:cNvSpPr txBox="1">
            <a:spLocks/>
          </p:cNvSpPr>
          <p:nvPr/>
        </p:nvSpPr>
        <p:spPr>
          <a:xfrm>
            <a:off x="66501" y="5094289"/>
            <a:ext cx="1034636" cy="746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600" dirty="0"/>
              <a:t>🤖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CDF5003-CA28-A3DE-CA77-C2BB5836A422}"/>
              </a:ext>
            </a:extLst>
          </p:cNvPr>
          <p:cNvSpPr/>
          <p:nvPr/>
        </p:nvSpPr>
        <p:spPr>
          <a:xfrm>
            <a:off x="1274990" y="4778058"/>
            <a:ext cx="7387770" cy="1408207"/>
          </a:xfrm>
          <a:prstGeom prst="roundRect">
            <a:avLst>
              <a:gd name="adj" fmla="val 654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ja-JP" altLang="en-US" sz="2800" dirty="0">
                <a:solidFill>
                  <a:schemeClr val="tx1"/>
                </a:solidFill>
              </a:rPr>
              <a:t>次の章では、強化学習（</a:t>
            </a:r>
            <a:r>
              <a:rPr lang="en-US" altLang="ja-JP" sz="2800" dirty="0">
                <a:solidFill>
                  <a:schemeClr val="tx1"/>
                </a:solidFill>
              </a:rPr>
              <a:t>Q</a:t>
            </a:r>
            <a:r>
              <a:rPr lang="ja-JP" altLang="en-US" sz="2800" dirty="0">
                <a:solidFill>
                  <a:schemeClr val="tx1"/>
                </a:solidFill>
              </a:rPr>
              <a:t>ラーニング）の考え方を学ぶ。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just"/>
            <a:r>
              <a:rPr lang="en-US" altLang="ja-JP" dirty="0">
                <a:solidFill>
                  <a:schemeClr val="tx1"/>
                </a:solidFill>
              </a:rPr>
              <a:t>Q</a:t>
            </a:r>
            <a:r>
              <a:rPr lang="ja-JP" altLang="en-US" dirty="0">
                <a:solidFill>
                  <a:schemeClr val="tx1"/>
                </a:solidFill>
              </a:rPr>
              <a:t>ラーニングの学習の仕組みを見てみよう！</a:t>
            </a:r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79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CF580D-B67C-4731-9698-9E448356C5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3-1 </a:t>
            </a:r>
            <a:r>
              <a:rPr lang="en-US" altLang="ja-JP" dirty="0"/>
              <a:t>Q</a:t>
            </a:r>
            <a:r>
              <a:rPr lang="ja-JP" altLang="en-US" dirty="0"/>
              <a:t>ラーニングとは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25714AC-8946-6951-C3C0-E7B597F7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</a:t>
            </a:r>
            <a:r>
              <a:rPr lang="en-US" altLang="ja-JP" dirty="0"/>
              <a:t>Q</a:t>
            </a:r>
            <a:r>
              <a:rPr lang="ja-JP" altLang="en-US" dirty="0"/>
              <a:t>ラーニング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B5F60F-351E-D576-99DD-4AF68FA75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ja-JP" dirty="0"/>
              <a:t>Q</a:t>
            </a:r>
            <a:r>
              <a:rPr lang="ja-JP" altLang="en-US" dirty="0"/>
              <a:t>ラーニングは、行動した結果から学習する方法である。</a:t>
            </a:r>
            <a:endParaRPr lang="en-US" altLang="ja-JP" dirty="0"/>
          </a:p>
          <a:p>
            <a:pPr marL="0" indent="0" algn="just">
              <a:buNone/>
            </a:pPr>
            <a:endParaRPr lang="en-US" altLang="ja-JP" dirty="0"/>
          </a:p>
          <a:p>
            <a:pPr marL="0" indent="0" algn="just">
              <a:buNone/>
            </a:pPr>
            <a:r>
              <a:rPr lang="ja-JP" altLang="en-US" dirty="0"/>
              <a:t>基本的の</a:t>
            </a:r>
            <a:r>
              <a:rPr lang="en-US" altLang="ja-JP" dirty="0"/>
              <a:t>Q</a:t>
            </a:r>
            <a:r>
              <a:rPr lang="ja-JP" altLang="en-US" dirty="0"/>
              <a:t>ラーニングのプロセス：</a:t>
            </a:r>
            <a:endParaRPr lang="en-US" altLang="ja-JP" dirty="0"/>
          </a:p>
          <a:p>
            <a:pPr marL="400050" indent="-400050" algn="just">
              <a:buFont typeface="Wingdings" panose="05000000000000000000" pitchFamily="2" charset="2"/>
              <a:buChar char="Ø"/>
            </a:pPr>
            <a:r>
              <a:rPr lang="ja-JP" altLang="en-US" dirty="0"/>
              <a:t>現在地を見る</a:t>
            </a:r>
          </a:p>
          <a:p>
            <a:pPr marL="400050" indent="-400050" algn="just">
              <a:buFont typeface="Wingdings" panose="05000000000000000000" pitchFamily="2" charset="2"/>
              <a:buChar char="Ø"/>
            </a:pPr>
            <a:r>
              <a:rPr lang="ja-JP" altLang="en-US" dirty="0"/>
              <a:t>行動を選ぶ</a:t>
            </a:r>
            <a:endParaRPr lang="en-US" altLang="ja-JP" dirty="0"/>
          </a:p>
          <a:p>
            <a:pPr marL="400050" indent="-400050" algn="just">
              <a:buFont typeface="Wingdings" panose="05000000000000000000" pitchFamily="2" charset="2"/>
              <a:buChar char="Ø"/>
            </a:pPr>
            <a:r>
              <a:rPr lang="ja-JP" altLang="en-US" dirty="0"/>
              <a:t>報酬を受け取る</a:t>
            </a:r>
            <a:endParaRPr lang="en-US" altLang="ja-JP" dirty="0"/>
          </a:p>
          <a:p>
            <a:pPr marL="400050" indent="-400050" algn="just">
              <a:buFont typeface="Wingdings" panose="05000000000000000000" pitchFamily="2" charset="2"/>
              <a:buChar char="Ø"/>
            </a:pPr>
            <a:r>
              <a:rPr lang="en-US" altLang="ja-JP" dirty="0"/>
              <a:t>Q</a:t>
            </a:r>
            <a:r>
              <a:rPr lang="ja-JP" altLang="en-US" dirty="0"/>
              <a:t>テーブルを更新する</a:t>
            </a:r>
            <a:endParaRPr lang="en-US" altLang="ja-JP" dirty="0"/>
          </a:p>
          <a:p>
            <a:pPr marL="400050" indent="-400050" algn="just">
              <a:buFont typeface="Wingdings" panose="05000000000000000000" pitchFamily="2" charset="2"/>
              <a:buChar char="Ø"/>
            </a:pPr>
            <a:r>
              <a:rPr lang="ja-JP" altLang="en-US" dirty="0"/>
              <a:t>何度も繰り返す</a:t>
            </a:r>
            <a:endParaRPr lang="en-US" altLang="ja-JP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ja-JP" altLang="en-US" dirty="0"/>
              <a:t>正解を最初から教えるのではなく、試行錯誤しながら、よい行動を見つる。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9E1EA-C9BC-E6F6-8417-284D3E3FEC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BA15751-2171-E362-DB23-71CE40972D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2358124"/>
              </p:ext>
            </p:extLst>
          </p:nvPr>
        </p:nvGraphicFramePr>
        <p:xfrm>
          <a:off x="4571999" y="2343149"/>
          <a:ext cx="4486165" cy="3117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735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86F21F-8AB2-599E-595E-AE66790E4F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3-2</a:t>
            </a:r>
            <a:r>
              <a:rPr lang="ja-JP" altLang="en-US" dirty="0"/>
              <a:t> 報酬によって行動を評価する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40109-0654-2580-DEC9-B80C34FB92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4886069"/>
            <a:ext cx="5248167" cy="1627287"/>
          </a:xfrm>
        </p:spPr>
        <p:txBody>
          <a:bodyPr>
            <a:normAutofit lnSpcReduction="10000"/>
          </a:bodyPr>
          <a:lstStyle/>
          <a:p>
            <a:r>
              <a:rPr lang="ja-JP" altLang="en-US" spc="-130" dirty="0"/>
              <a:t>罠に入る（上）：</a:t>
            </a:r>
            <a:r>
              <a:rPr lang="en-US" altLang="ja-JP" spc="-130" dirty="0"/>
              <a:t> </a:t>
            </a:r>
            <a:r>
              <a:rPr lang="ja-JP" altLang="en-US" spc="-130" dirty="0"/>
              <a:t>低い</a:t>
            </a:r>
            <a:r>
              <a:rPr lang="en-US" altLang="ja-JP" spc="-130" dirty="0"/>
              <a:t>Q</a:t>
            </a:r>
            <a:r>
              <a:rPr lang="ja-JP" altLang="en-US" spc="-130" dirty="0"/>
              <a:t>値</a:t>
            </a:r>
            <a:endParaRPr lang="en-US" altLang="ja-JP" spc="-130" dirty="0"/>
          </a:p>
          <a:p>
            <a:r>
              <a:rPr lang="en-US" spc="-130" dirty="0"/>
              <a:t>1</a:t>
            </a:r>
            <a:r>
              <a:rPr lang="ja-JP" altLang="en-US" spc="-130" dirty="0"/>
              <a:t>マス進（下）：場合によって</a:t>
            </a:r>
            <a:endParaRPr lang="en-US" altLang="ja-JP" spc="-130" dirty="0"/>
          </a:p>
          <a:p>
            <a:r>
              <a:rPr lang="ja-JP" altLang="en-US" spc="-130" dirty="0"/>
              <a:t>チーズを見つける（右）：高い</a:t>
            </a:r>
            <a:r>
              <a:rPr lang="en-US" altLang="ja-JP" spc="-130" dirty="0"/>
              <a:t>Q</a:t>
            </a:r>
            <a:r>
              <a:rPr lang="ja-JP" altLang="en-US" spc="-130" dirty="0"/>
              <a:t>値</a:t>
            </a:r>
            <a:endParaRPr lang="en-US" altLang="ja-JP" spc="-130" dirty="0"/>
          </a:p>
          <a:p>
            <a:r>
              <a:rPr lang="ja-JP" altLang="en-US" spc="-130" dirty="0"/>
              <a:t>壁にぶつかる（左）：低い</a:t>
            </a:r>
            <a:r>
              <a:rPr lang="en-US" altLang="ja-JP" spc="-130" dirty="0"/>
              <a:t>Q</a:t>
            </a:r>
            <a:r>
              <a:rPr lang="ja-JP" altLang="en-US" spc="-130" dirty="0"/>
              <a:t>値</a:t>
            </a:r>
            <a:endParaRPr lang="en-US" altLang="ja-JP" spc="-13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338B7-1C95-E803-8C0F-62CDF48084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26" name="Picture 39">
            <a:extLst>
              <a:ext uri="{FF2B5EF4-FFF2-40B4-BE49-F238E27FC236}">
                <a16:creationId xmlns:a16="http://schemas.microsoft.com/office/drawing/2014/main" id="{0726FB4A-1C63-0FAC-9A57-A15FE1D335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30461" y="1977516"/>
            <a:ext cx="2758910" cy="27513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F8FCE51-95F4-64A8-F213-F6E38373B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364" y="1977517"/>
            <a:ext cx="2678472" cy="3620468"/>
          </a:xfrm>
          <a:prstGeom prst="rect">
            <a:avLst/>
          </a:prstGeom>
        </p:spPr>
      </p:pic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F24902F-6BAF-1B5F-C5B1-6E52CAFEB2C9}"/>
              </a:ext>
            </a:extLst>
          </p:cNvPr>
          <p:cNvSpPr txBox="1">
            <a:spLocks/>
          </p:cNvSpPr>
          <p:nvPr/>
        </p:nvSpPr>
        <p:spPr>
          <a:xfrm>
            <a:off x="85833" y="1133476"/>
            <a:ext cx="8972332" cy="74100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よい報酬につながる行動の</a:t>
            </a:r>
            <a:r>
              <a:rPr lang="en-US" altLang="ja-JP" dirty="0"/>
              <a:t>Q</a:t>
            </a:r>
            <a:r>
              <a:rPr lang="ja-JP" altLang="en-US" dirty="0"/>
              <a:t>テーブルの数値（</a:t>
            </a:r>
            <a:r>
              <a:rPr lang="en-US" altLang="ja-JP" dirty="0"/>
              <a:t>Q</a:t>
            </a:r>
            <a:r>
              <a:rPr lang="ja-JP" altLang="en-US" dirty="0"/>
              <a:t>値）は高くなり、悪い報酬につながる行動の</a:t>
            </a:r>
            <a:r>
              <a:rPr lang="en-US" altLang="ja-JP" dirty="0"/>
              <a:t>Q</a:t>
            </a:r>
            <a:r>
              <a:rPr lang="ja-JP" altLang="en-US" dirty="0"/>
              <a:t>値は低くなる。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D979A2-3E63-5A97-341C-64FB9E6D636A}"/>
              </a:ext>
            </a:extLst>
          </p:cNvPr>
          <p:cNvSpPr txBox="1"/>
          <p:nvPr/>
        </p:nvSpPr>
        <p:spPr>
          <a:xfrm>
            <a:off x="5154840" y="5755188"/>
            <a:ext cx="366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移動に小さなマイナス報酬を与えると、短い道を選ぶようになる。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4D8BAC-A694-BA45-5BCC-7ED800F368FE}"/>
              </a:ext>
            </a:extLst>
          </p:cNvPr>
          <p:cNvSpPr/>
          <p:nvPr/>
        </p:nvSpPr>
        <p:spPr>
          <a:xfrm>
            <a:off x="7813539" y="3742031"/>
            <a:ext cx="1828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716368D-E2E9-AE28-2C87-8FA9DE875537}"/>
              </a:ext>
            </a:extLst>
          </p:cNvPr>
          <p:cNvCxnSpPr>
            <a:cxnSpLocks/>
            <a:stCxn id="33" idx="3"/>
            <a:endCxn id="31" idx="3"/>
          </p:cNvCxnSpPr>
          <p:nvPr/>
        </p:nvCxnSpPr>
        <p:spPr>
          <a:xfrm>
            <a:off x="7996419" y="3833471"/>
            <a:ext cx="828304" cy="2244883"/>
          </a:xfrm>
          <a:prstGeom prst="bentConnector3">
            <a:avLst>
              <a:gd name="adj1" fmla="val 127599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56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66F307-E55B-DD27-3808-52520CF083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3-3 Q</a:t>
            </a:r>
            <a:r>
              <a:rPr lang="ja-JP" altLang="en-US" dirty="0"/>
              <a:t>値の更新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7B63F-79C9-31C1-8729-D04B56780B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5577105"/>
            <a:ext cx="8972332" cy="833219"/>
          </a:xfrm>
        </p:spPr>
        <p:txBody>
          <a:bodyPr/>
          <a:lstStyle/>
          <a:p>
            <a:pPr marL="0" indent="0" algn="just">
              <a:buNone/>
            </a:pPr>
            <a:r>
              <a:rPr lang="ja-JP" altLang="en-US" dirty="0"/>
              <a:t>この流れを一言でまとめると、更新式は「予想と答え合わせのズレを、</a:t>
            </a:r>
            <a:r>
              <a:rPr lang="ja-JP" altLang="en-US" dirty="0">
                <a:solidFill>
                  <a:srgbClr val="EE7660"/>
                </a:solidFill>
              </a:rPr>
              <a:t>こわごわ</a:t>
            </a:r>
            <a:r>
              <a:rPr lang="ja-JP" altLang="en-US" dirty="0"/>
              <a:t>少しずつ埋めていく」だけの仕組み。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53E17-7CE7-D813-CE03-59230183254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83DD3B-E033-48D8-1EDD-BC08DD9D9B28}"/>
                  </a:ext>
                </a:extLst>
              </p:cNvPr>
              <p:cNvSpPr txBox="1"/>
              <p:nvPr/>
            </p:nvSpPr>
            <p:spPr>
              <a:xfrm>
                <a:off x="1168883" y="1269282"/>
                <a:ext cx="6385018" cy="533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22BA67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9751C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9751C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9751CB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0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rgbClr val="9751C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9751C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9751C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func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9751C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9751CB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83DD3B-E033-48D8-1EDD-BC08DD9D9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83" y="1269282"/>
                <a:ext cx="6385018" cy="533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69468322-F2B8-A76B-EB4C-3509153C0C49}"/>
              </a:ext>
            </a:extLst>
          </p:cNvPr>
          <p:cNvSpPr/>
          <p:nvPr/>
        </p:nvSpPr>
        <p:spPr>
          <a:xfrm rot="5400000">
            <a:off x="2852333" y="1421060"/>
            <a:ext cx="155448" cy="9144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8B91E-A5F1-3AB9-A9F3-09F490FAD2B6}"/>
              </a:ext>
            </a:extLst>
          </p:cNvPr>
          <p:cNvSpPr txBox="1"/>
          <p:nvPr/>
        </p:nvSpPr>
        <p:spPr>
          <a:xfrm>
            <a:off x="2255730" y="1955984"/>
            <a:ext cx="130516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>
                <a:solidFill>
                  <a:srgbClr val="FF0000"/>
                </a:solidFill>
              </a:rPr>
              <a:t>現在の</a:t>
            </a:r>
            <a:r>
              <a:rPr lang="en-US" altLang="ja-JP" dirty="0">
                <a:solidFill>
                  <a:srgbClr val="FF0000"/>
                </a:solidFill>
              </a:rPr>
              <a:t>Q</a:t>
            </a:r>
            <a:r>
              <a:rPr lang="ja-JP" altLang="en-US" dirty="0">
                <a:solidFill>
                  <a:srgbClr val="FF0000"/>
                </a:solidFill>
              </a:rPr>
              <a:t>値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AA45F-025B-713A-4198-5FED40DE204D}"/>
              </a:ext>
            </a:extLst>
          </p:cNvPr>
          <p:cNvSpPr txBox="1"/>
          <p:nvPr/>
        </p:nvSpPr>
        <p:spPr>
          <a:xfrm>
            <a:off x="3211595" y="23025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00B050"/>
                </a:solidFill>
              </a:rPr>
              <a:t>学習率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A5763C-8D92-E32D-6F13-A02DF96D57B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650176" y="1680727"/>
            <a:ext cx="1" cy="6218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02FED0-BC37-F375-380F-0A9A85DDDA55}"/>
              </a:ext>
            </a:extLst>
          </p:cNvPr>
          <p:cNvSpPr txBox="1"/>
          <p:nvPr/>
        </p:nvSpPr>
        <p:spPr>
          <a:xfrm>
            <a:off x="3053994" y="2653995"/>
            <a:ext cx="203132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9751CB"/>
                </a:solidFill>
              </a:rPr>
              <a:t>行動後に得た報酬</a:t>
            </a:r>
            <a:endParaRPr lang="en-US" dirty="0">
              <a:solidFill>
                <a:srgbClr val="9751CB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1EE93E-6E62-6744-976A-52A75E6EC1B3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069657" y="1712870"/>
            <a:ext cx="0" cy="941125"/>
          </a:xfrm>
          <a:prstGeom prst="straightConnector1">
            <a:avLst/>
          </a:prstGeom>
          <a:ln>
            <a:solidFill>
              <a:srgbClr val="9751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FB9377-572D-4233-42D5-FD4762207BA7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5306430" y="1682998"/>
            <a:ext cx="1" cy="1298770"/>
          </a:xfrm>
          <a:prstGeom prst="straightConnector1">
            <a:avLst/>
          </a:prstGeom>
          <a:ln>
            <a:solidFill>
              <a:srgbClr val="9751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3AB354E-25D6-0F43-78C1-CD92D453C518}"/>
              </a:ext>
            </a:extLst>
          </p:cNvPr>
          <p:cNvSpPr txBox="1"/>
          <p:nvPr/>
        </p:nvSpPr>
        <p:spPr>
          <a:xfrm>
            <a:off x="3961350" y="2981768"/>
            <a:ext cx="269016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>
                <a:solidFill>
                  <a:srgbClr val="9751CB"/>
                </a:solidFill>
              </a:rPr>
              <a:t>次のマスで一番高い</a:t>
            </a:r>
            <a:r>
              <a:rPr lang="en-US" altLang="ja-JP" dirty="0">
                <a:solidFill>
                  <a:srgbClr val="9751CB"/>
                </a:solidFill>
              </a:rPr>
              <a:t>Q</a:t>
            </a:r>
            <a:r>
              <a:rPr lang="ja-JP" altLang="en-US" dirty="0">
                <a:solidFill>
                  <a:srgbClr val="9751CB"/>
                </a:solidFill>
              </a:rPr>
              <a:t>値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A9776B-6EE3-A497-EDD0-67EB728AB244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904792" y="1682998"/>
            <a:ext cx="0" cy="16078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ED6E620-361C-6D27-1DD2-E0E8B327B636}"/>
              </a:ext>
            </a:extLst>
          </p:cNvPr>
          <p:cNvSpPr txBox="1"/>
          <p:nvPr/>
        </p:nvSpPr>
        <p:spPr>
          <a:xfrm>
            <a:off x="6252209" y="3290861"/>
            <a:ext cx="130516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>
                <a:solidFill>
                  <a:srgbClr val="FF0000"/>
                </a:solidFill>
              </a:rPr>
              <a:t>現在の</a:t>
            </a:r>
            <a:r>
              <a:rPr lang="en-US" altLang="ja-JP" dirty="0">
                <a:solidFill>
                  <a:srgbClr val="FF0000"/>
                </a:solidFill>
              </a:rPr>
              <a:t>Q</a:t>
            </a:r>
            <a:r>
              <a:rPr lang="ja-JP" altLang="en-US" dirty="0">
                <a:solidFill>
                  <a:srgbClr val="FF0000"/>
                </a:solidFill>
              </a:rPr>
              <a:t>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4024C5-BDAF-E1B2-FE7E-A19E4028281F}"/>
              </a:ext>
            </a:extLst>
          </p:cNvPr>
          <p:cNvSpPr txBox="1"/>
          <p:nvPr/>
        </p:nvSpPr>
        <p:spPr>
          <a:xfrm>
            <a:off x="4099044" y="1930584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9751CB"/>
                </a:solidFill>
              </a:rPr>
              <a:t>割引率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388EAB2-B810-BC22-35C3-0455CC96BBBA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537626" y="1720575"/>
            <a:ext cx="0" cy="210009"/>
          </a:xfrm>
          <a:prstGeom prst="straightConnector1">
            <a:avLst/>
          </a:prstGeom>
          <a:ln>
            <a:solidFill>
              <a:srgbClr val="9751C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 Brace 30">
            <a:extLst>
              <a:ext uri="{FF2B5EF4-FFF2-40B4-BE49-F238E27FC236}">
                <a16:creationId xmlns:a16="http://schemas.microsoft.com/office/drawing/2014/main" id="{7F62D839-03F1-2B1F-64C8-77563CDC32C2}"/>
              </a:ext>
            </a:extLst>
          </p:cNvPr>
          <p:cNvSpPr/>
          <p:nvPr/>
        </p:nvSpPr>
        <p:spPr>
          <a:xfrm rot="5400000">
            <a:off x="5389994" y="2388370"/>
            <a:ext cx="165660" cy="2806336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9EE138-8947-16E6-FC66-908CA6151CF3}"/>
              </a:ext>
            </a:extLst>
          </p:cNvPr>
          <p:cNvSpPr txBox="1"/>
          <p:nvPr/>
        </p:nvSpPr>
        <p:spPr>
          <a:xfrm>
            <a:off x="4462992" y="3886610"/>
            <a:ext cx="2019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solidFill>
                  <a:srgbClr val="00B0F0"/>
                </a:solidFill>
              </a:rPr>
              <a:t>予想と実際のずれ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88ABCA7-D5CA-DDF2-31C7-3D0B00C0CF2A}"/>
              </a:ext>
            </a:extLst>
          </p:cNvPr>
          <p:cNvSpPr txBox="1">
            <a:spLocks/>
          </p:cNvSpPr>
          <p:nvPr/>
        </p:nvSpPr>
        <p:spPr>
          <a:xfrm>
            <a:off x="1168882" y="4501261"/>
            <a:ext cx="6385019" cy="6942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2000" dirty="0"/>
              <a:t>新しい予想 </a:t>
            </a:r>
            <a:r>
              <a:rPr lang="en-US" altLang="ja-JP" sz="2000" dirty="0"/>
              <a:t>= </a:t>
            </a:r>
            <a:r>
              <a:rPr lang="ja-JP" altLang="en-US" sz="2000" dirty="0">
                <a:solidFill>
                  <a:srgbClr val="FF0000"/>
                </a:solidFill>
              </a:rPr>
              <a:t>古い予想 </a:t>
            </a:r>
            <a:r>
              <a:rPr lang="en-US" altLang="ja-JP" sz="2000" dirty="0"/>
              <a:t>+ </a:t>
            </a:r>
            <a:r>
              <a:rPr lang="en-US" altLang="ja-JP" sz="2000" dirty="0">
                <a:solidFill>
                  <a:srgbClr val="00B050"/>
                </a:solidFill>
              </a:rPr>
              <a:t>α</a:t>
            </a:r>
            <a:r>
              <a:rPr lang="en-US" altLang="ja-JP" sz="2000" dirty="0"/>
              <a:t> × </a:t>
            </a:r>
            <a:r>
              <a:rPr lang="ja-JP" altLang="en-US" sz="2000" dirty="0">
                <a:solidFill>
                  <a:srgbClr val="00B0F0"/>
                </a:solidFill>
              </a:rPr>
              <a:t>ズレ</a:t>
            </a:r>
            <a:endParaRPr lang="en-US" altLang="ja-JP" sz="2000" dirty="0">
              <a:solidFill>
                <a:srgbClr val="00B0F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ja-JP" sz="2000" dirty="0">
                <a:solidFill>
                  <a:srgbClr val="00B050"/>
                </a:solidFill>
              </a:rPr>
              <a:t>α</a:t>
            </a:r>
            <a:r>
              <a:rPr lang="ja-JP" altLang="en-US" sz="2000" dirty="0">
                <a:solidFill>
                  <a:srgbClr val="00B050"/>
                </a:solidFill>
              </a:rPr>
              <a:t> </a:t>
            </a:r>
            <a:r>
              <a:rPr lang="en-US" altLang="ja-JP" sz="2000" dirty="0">
                <a:solidFill>
                  <a:srgbClr val="00B050"/>
                </a:solidFill>
              </a:rPr>
              <a:t>(</a:t>
            </a:r>
            <a:r>
              <a:rPr lang="ja-JP" altLang="en-US" sz="2000" dirty="0">
                <a:solidFill>
                  <a:srgbClr val="00B050"/>
                </a:solidFill>
              </a:rPr>
              <a:t>学習率</a:t>
            </a:r>
            <a:r>
              <a:rPr lang="en-US" altLang="ja-JP" sz="2000" dirty="0">
                <a:solidFill>
                  <a:srgbClr val="00B050"/>
                </a:solidFill>
              </a:rPr>
              <a:t>) = </a:t>
            </a:r>
            <a:r>
              <a:rPr lang="ja-JP" altLang="en-US" sz="2000" dirty="0">
                <a:solidFill>
                  <a:srgbClr val="00B050"/>
                </a:solidFill>
              </a:rPr>
              <a:t>どれだけ直すか </a:t>
            </a: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40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/>
      <p:bldP spid="9" grpId="0"/>
      <p:bldP spid="14" grpId="0"/>
      <p:bldP spid="12" grpId="0"/>
      <p:bldP spid="20" grpId="0"/>
      <p:bldP spid="26" grpId="0"/>
      <p:bldP spid="31" grpId="0" animBg="1"/>
      <p:bldP spid="33" grpId="0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AB4AE3-45C8-374C-9562-A53652BF78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3-3 Q</a:t>
            </a:r>
            <a:r>
              <a:rPr lang="ja-JP" altLang="en-US" dirty="0"/>
              <a:t>値の更新（例題）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B740F-D084-6394-E739-FFC08BEB350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5833" y="4505059"/>
                <a:ext cx="8972332" cy="19052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 i="1" dirty="0" smtClean="0">
                        <a:latin typeface="Cambria Math" panose="02040503050406030204" pitchFamily="18" charset="0"/>
                      </a:rPr>
                      <m:t>現在の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ja-JP" altLang="en-US" i="1" dirty="0">
                        <a:latin typeface="Cambria Math" panose="02040503050406030204" pitchFamily="18" charset="0"/>
                      </a:rPr>
                      <m:t>値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en-US" altLang="ja-JP" dirty="0"/>
              </a:p>
              <a:p>
                <a:pPr marL="461963" indent="-461963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i="1" dirty="0" smtClean="0">
                        <a:latin typeface="Cambria Math" panose="02040503050406030204" pitchFamily="18" charset="0"/>
                      </a:rPr>
                      <m:t>新しい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ja-JP" altLang="en-US" i="1" dirty="0">
                        <a:latin typeface="Cambria Math" panose="02040503050406030204" pitchFamily="18" charset="0"/>
                      </a:rPr>
                      <m:t>値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i="1" dirty="0">
                        <a:solidFill>
                          <a:srgbClr val="9751CB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 dirty="0">
                        <a:solidFill>
                          <a:srgbClr val="9751CB"/>
                        </a:solidFill>
                        <a:latin typeface="Cambria Math" panose="02040503050406030204" pitchFamily="18" charset="0"/>
                      </a:rPr>
                      <m:t>0.95</m:t>
                    </m:r>
                    <m:r>
                      <a:rPr lang="en-US" altLang="ja-JP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i="1" dirty="0">
                        <a:solidFill>
                          <a:srgbClr val="9751CB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2.175</m:t>
                    </m:r>
                  </m:oMath>
                </a14:m>
                <a:endParaRPr lang="en-US" altLang="ja-JP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pc="-15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pc="-15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pc="-1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pc="-15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pc="-15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pc="-15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 spc="-150">
                        <a:latin typeface="Cambria Math" panose="02040503050406030204" pitchFamily="18" charset="0"/>
                      </a:rPr>
                      <m:t>右</m:t>
                    </m:r>
                    <m:r>
                      <a:rPr lang="en-US" b="0" i="1" spc="-1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pc="-150" dirty="0"/>
                  <a:t> に動くとチーズまでの距離が短くなるため、</a:t>
                </a:r>
                <a:r>
                  <a:rPr lang="en-US" altLang="ja-JP" b="1" spc="-150" dirty="0"/>
                  <a:t>Q</a:t>
                </a:r>
                <a:r>
                  <a:rPr lang="ja-JP" altLang="en-US" b="1" spc="-150" dirty="0"/>
                  <a:t>値が上がる</a:t>
                </a:r>
                <a:r>
                  <a:rPr lang="ja-JP" altLang="en-US" spc="-150" dirty="0"/>
                  <a:t>。</a:t>
                </a:r>
                <a:endParaRPr lang="en-US" spc="-15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5B740F-D084-6394-E739-FFC08BEB3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5833" y="4505059"/>
                <a:ext cx="8972332" cy="1905266"/>
              </a:xfrm>
              <a:blipFill>
                <a:blip r:embed="rId2"/>
                <a:stretch>
                  <a:fillRect l="-883" t="-4153" r="-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DFA6C-C6BF-A38C-3E13-E6E1D64B03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3D23BA8-3647-EEBD-24B0-DE19C41CF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749" y="1378419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A33CC9A-9D19-A41C-7B09-B62C8F91D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749" y="2301605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0DFB144-9B24-2AB6-2EC9-C417D6484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749" y="3224791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1130A4F-AB45-197C-BAF7-F0AB64B1A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60" y="1378419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33D333D-C5F5-457B-C806-8541BCF89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60" y="2301605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297A4FA-1B6C-E3D2-F030-AF6817DB2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60" y="3224791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7EF73D7-DBC8-8155-514C-7D1F8B777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12" y="1378419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8A5B96C-55C8-6B35-7278-9D6988414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12" y="2301605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C57F16F-2103-AD36-6DE5-7E0E11B7C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12" y="3224791"/>
            <a:ext cx="890462" cy="885825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42982BA-278E-A71F-65FF-9AB1994F8C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736" y="1354604"/>
            <a:ext cx="932688" cy="93268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D3F7527-94A8-3177-4A01-02636A990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423" y="1356194"/>
            <a:ext cx="932688" cy="93268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E716C99-8622-972A-62EB-DFC04237AC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285" y="1354604"/>
            <a:ext cx="932688" cy="93268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7B54922-85F8-C0C6-8A94-82CBBE837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735" y="3202417"/>
            <a:ext cx="932688" cy="93268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9D642D9-17E1-AA15-AB32-5A902913F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284" y="3202417"/>
            <a:ext cx="932688" cy="93268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BF3041BF-C79A-FE43-CA51-B0628444E1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864" y="2264244"/>
            <a:ext cx="650082" cy="650082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7C9DAAD-9F6E-0BC4-136A-DDF937550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460" y="3201359"/>
            <a:ext cx="932688" cy="93268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499939E5-2B57-0020-5126-2750C0B232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248" y="2264244"/>
            <a:ext cx="952633" cy="9526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106ADB9-6A8D-9452-3260-1A892426B490}"/>
                  </a:ext>
                </a:extLst>
              </p:cNvPr>
              <p:cNvSpPr txBox="1"/>
              <p:nvPr/>
            </p:nvSpPr>
            <p:spPr>
              <a:xfrm>
                <a:off x="1481948" y="2780737"/>
                <a:ext cx="431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106ADB9-6A8D-9452-3260-1A892426B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948" y="2780737"/>
                <a:ext cx="43191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5D84E73-A83E-742D-3618-4E893DF0AB80}"/>
                  </a:ext>
                </a:extLst>
              </p:cNvPr>
              <p:cNvSpPr txBox="1"/>
              <p:nvPr/>
            </p:nvSpPr>
            <p:spPr>
              <a:xfrm>
                <a:off x="2311808" y="2780737"/>
                <a:ext cx="6515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5D84E73-A83E-742D-3618-4E893DF0A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808" y="2780737"/>
                <a:ext cx="65152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Arrow: Right 79">
            <a:extLst>
              <a:ext uri="{FF2B5EF4-FFF2-40B4-BE49-F238E27FC236}">
                <a16:creationId xmlns:a16="http://schemas.microsoft.com/office/drawing/2014/main" id="{8F0D57FC-B672-5084-535B-DFFC80AC4C2F}"/>
              </a:ext>
            </a:extLst>
          </p:cNvPr>
          <p:cNvSpPr/>
          <p:nvPr/>
        </p:nvSpPr>
        <p:spPr>
          <a:xfrm>
            <a:off x="1947144" y="2599442"/>
            <a:ext cx="533400" cy="2971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D318986D-B128-0FDF-5C16-6A4054C73F0C}"/>
                  </a:ext>
                </a:extLst>
              </p:cNvPr>
              <p:cNvSpPr/>
              <p:nvPr/>
            </p:nvSpPr>
            <p:spPr>
              <a:xfrm>
                <a:off x="1243331" y="1603761"/>
                <a:ext cx="1478280" cy="612648"/>
              </a:xfrm>
              <a:prstGeom prst="wedgeRoundRectCallout">
                <a:avLst>
                  <a:gd name="adj1" fmla="val -20318"/>
                  <a:gd name="adj2" fmla="val 72450"/>
                  <a:gd name="adj3" fmla="val 16667"/>
                </a:avLst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600" dirty="0">
                    <a:solidFill>
                      <a:schemeClr val="tx1"/>
                    </a:solidFill>
                  </a:rPr>
                  <a:t>現在の</a:t>
                </a:r>
                <a:r>
                  <a:rPr lang="en-US" sz="1600" dirty="0">
                    <a:solidFill>
                      <a:schemeClr val="tx1"/>
                    </a:solidFill>
                  </a:rPr>
                  <a:t>Q</a:t>
                </a:r>
                <a:r>
                  <a:rPr lang="ja-JP" altLang="en-US" sz="1600" dirty="0">
                    <a:solidFill>
                      <a:schemeClr val="tx1"/>
                    </a:solidFill>
                  </a:rPr>
                  <a:t>値：</a:t>
                </a:r>
                <a:endParaRPr lang="en-US" altLang="ja-JP" sz="16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ja-JP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右</m:t>
                          </m:r>
                        </m:e>
                      </m:d>
                      <m:r>
                        <a:rPr lang="en-US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ja-JP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D318986D-B128-0FDF-5C16-6A4054C73F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331" y="1603761"/>
                <a:ext cx="1478280" cy="612648"/>
              </a:xfrm>
              <a:prstGeom prst="wedgeRoundRectCallout">
                <a:avLst>
                  <a:gd name="adj1" fmla="val -20318"/>
                  <a:gd name="adj2" fmla="val 72450"/>
                  <a:gd name="adj3" fmla="val 16667"/>
                </a:avLst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Right 25">
            <a:extLst>
              <a:ext uri="{FF2B5EF4-FFF2-40B4-BE49-F238E27FC236}">
                <a16:creationId xmlns:a16="http://schemas.microsoft.com/office/drawing/2014/main" id="{7EEC068B-11F7-031C-F6A9-0042C1526870}"/>
              </a:ext>
            </a:extLst>
          </p:cNvPr>
          <p:cNvSpPr/>
          <p:nvPr/>
        </p:nvSpPr>
        <p:spPr>
          <a:xfrm>
            <a:off x="3032262" y="2910361"/>
            <a:ext cx="231649" cy="236039"/>
          </a:xfrm>
          <a:prstGeom prst="rightArrow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44552B4E-7007-2438-44EE-C42BFB04143B}"/>
              </a:ext>
            </a:extLst>
          </p:cNvPr>
          <p:cNvSpPr/>
          <p:nvPr/>
        </p:nvSpPr>
        <p:spPr>
          <a:xfrm rot="5400000">
            <a:off x="2219487" y="3124369"/>
            <a:ext cx="231649" cy="236039"/>
          </a:xfrm>
          <a:prstGeom prst="rightArrow">
            <a:avLst/>
          </a:prstGeom>
          <a:solidFill>
            <a:schemeClr val="accent4">
              <a:alpha val="36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275BF6D-C69E-19FB-03AD-22D3531C6B0A}"/>
              </a:ext>
            </a:extLst>
          </p:cNvPr>
          <p:cNvSpPr/>
          <p:nvPr/>
        </p:nvSpPr>
        <p:spPr>
          <a:xfrm rot="10800000">
            <a:off x="1972760" y="2355458"/>
            <a:ext cx="231649" cy="236039"/>
          </a:xfrm>
          <a:prstGeom prst="rightArrow">
            <a:avLst/>
          </a:prstGeom>
          <a:solidFill>
            <a:schemeClr val="accent4">
              <a:alpha val="36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D22B5208-21A7-147D-939C-08DD3FCA76E4}"/>
              </a:ext>
            </a:extLst>
          </p:cNvPr>
          <p:cNvSpPr/>
          <p:nvPr/>
        </p:nvSpPr>
        <p:spPr>
          <a:xfrm rot="16200000">
            <a:off x="2797206" y="2107686"/>
            <a:ext cx="231649" cy="236039"/>
          </a:xfrm>
          <a:prstGeom prst="rightArrow">
            <a:avLst/>
          </a:prstGeom>
          <a:solidFill>
            <a:schemeClr val="accent4">
              <a:alpha val="36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Speech Bubble: Rectangle with Corners Rounded 81">
                <a:extLst>
                  <a:ext uri="{FF2B5EF4-FFF2-40B4-BE49-F238E27FC236}">
                    <a16:creationId xmlns:a16="http://schemas.microsoft.com/office/drawing/2014/main" id="{4F5FD394-EA07-0B4A-8399-EEFD6DF67799}"/>
                  </a:ext>
                </a:extLst>
              </p:cNvPr>
              <p:cNvSpPr/>
              <p:nvPr/>
            </p:nvSpPr>
            <p:spPr>
              <a:xfrm>
                <a:off x="4185735" y="2295686"/>
                <a:ext cx="2493306" cy="1723411"/>
              </a:xfrm>
              <a:prstGeom prst="wedgeRoundRectCallout">
                <a:avLst>
                  <a:gd name="adj1" fmla="val -60696"/>
                  <a:gd name="adj2" fmla="val -22907"/>
                  <a:gd name="adj3" fmla="val 16667"/>
                </a:avLst>
              </a:prstGeom>
              <a:solidFill>
                <a:schemeClr val="bg1"/>
              </a:solidFill>
              <a:ln w="28575">
                <a:solidFill>
                  <a:srgbClr val="2BC2B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ja-JP" altLang="en-US" sz="1600" dirty="0">
                    <a:solidFill>
                      <a:schemeClr val="tx1"/>
                    </a:solidFill>
                  </a:rPr>
                  <a:t>次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)</a:t>
                </a:r>
                <a:r>
                  <a:rPr lang="ja-JP" altLang="en-US" sz="1600" dirty="0">
                    <a:solidFill>
                      <a:schemeClr val="tx1"/>
                    </a:solidFill>
                  </a:rPr>
                  <a:t>のマスで選べる行動の高い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Q</a:t>
                </a:r>
                <a:r>
                  <a:rPr lang="ja-JP" altLang="en-US" sz="1600" dirty="0">
                    <a:solidFill>
                      <a:schemeClr val="tx1"/>
                    </a:solidFill>
                  </a:rPr>
                  <a:t>値は：</a:t>
                </a:r>
                <a:endParaRPr lang="en-US" altLang="ja-JP" sz="1600" dirty="0">
                  <a:solidFill>
                    <a:schemeClr val="tx1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ja-JP" altLang="en-US" sz="1600" dirty="0">
                    <a:solidFill>
                      <a:schemeClr val="tx1"/>
                    </a:solidFill>
                  </a:rPr>
                  <a:t>上 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= 1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ja-JP" altLang="en-US" sz="1600" dirty="0">
                    <a:solidFill>
                      <a:schemeClr val="tx1"/>
                    </a:solidFill>
                  </a:rPr>
                  <a:t>下 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= 3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ja-JP" altLang="en-US" sz="1600" dirty="0">
                    <a:solidFill>
                      <a:schemeClr val="tx1"/>
                    </a:solidFill>
                  </a:rPr>
                  <a:t>右 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= </a:t>
                </a:r>
                <a:r>
                  <a:rPr lang="en-US" altLang="ja-JP" sz="1600" dirty="0">
                    <a:solidFill>
                      <a:srgbClr val="9751CB"/>
                    </a:solidFill>
                  </a:rPr>
                  <a:t>5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ja-JP" altLang="en-US" sz="1600" dirty="0">
                    <a:solidFill>
                      <a:schemeClr val="tx1"/>
                    </a:solidFill>
                  </a:rPr>
                  <a:t>左 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= 2</a:t>
                </a:r>
                <a:endParaRPr lang="ja-JP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Speech Bubble: Rectangle with Corners Rounded 81">
                <a:extLst>
                  <a:ext uri="{FF2B5EF4-FFF2-40B4-BE49-F238E27FC236}">
                    <a16:creationId xmlns:a16="http://schemas.microsoft.com/office/drawing/2014/main" id="{4F5FD394-EA07-0B4A-8399-EEFD6DF677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735" y="2295686"/>
                <a:ext cx="2493306" cy="1723411"/>
              </a:xfrm>
              <a:prstGeom prst="wedgeRoundRectCallout">
                <a:avLst>
                  <a:gd name="adj1" fmla="val -60696"/>
                  <a:gd name="adj2" fmla="val -22907"/>
                  <a:gd name="adj3" fmla="val 16667"/>
                </a:avLst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2BC2B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ADCBB55A-90BE-B92E-C65A-B08D003DD802}"/>
              </a:ext>
            </a:extLst>
          </p:cNvPr>
          <p:cNvSpPr txBox="1"/>
          <p:nvPr/>
        </p:nvSpPr>
        <p:spPr>
          <a:xfrm>
            <a:off x="7173894" y="3351974"/>
            <a:ext cx="1600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一番高い</a:t>
            </a:r>
            <a:r>
              <a:rPr lang="en-US" dirty="0">
                <a:solidFill>
                  <a:srgbClr val="FF0000"/>
                </a:solidFill>
              </a:rPr>
              <a:t>Q</a:t>
            </a:r>
            <a:r>
              <a:rPr lang="ja-JP" altLang="en-US" dirty="0">
                <a:solidFill>
                  <a:srgbClr val="FF0000"/>
                </a:solidFill>
              </a:rPr>
              <a:t>値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BF4D9E-6C75-0D41-1C67-E65F08B7EA91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5289748" y="3536640"/>
            <a:ext cx="18841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E8D449A4-60F2-900E-DFB4-0F13FDBC9973}"/>
              </a:ext>
            </a:extLst>
          </p:cNvPr>
          <p:cNvSpPr/>
          <p:nvPr/>
        </p:nvSpPr>
        <p:spPr>
          <a:xfrm>
            <a:off x="4572665" y="3422674"/>
            <a:ext cx="717083" cy="2341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6" grpId="0" animBg="1"/>
      <p:bldP spid="28" grpId="0" animBg="1"/>
      <p:bldP spid="30" grpId="0" animBg="1"/>
      <p:bldP spid="32" grpId="0" animBg="1"/>
      <p:bldP spid="82" grpId="0" animBg="1"/>
      <p:bldP spid="39" grpId="0"/>
      <p:bldP spid="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52A047-E17C-C4B1-AC50-7D5B8A0845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3-4 </a:t>
            </a:r>
            <a:r>
              <a:rPr lang="ja-JP" altLang="en-US" dirty="0"/>
              <a:t>キーポイント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75D01-48D6-DE1A-715F-5C12B7146A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t"/>
          <a:lstStyle/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Q</a:t>
            </a:r>
            <a:r>
              <a:rPr lang="ja-JP" altLang="en-US" b="1" dirty="0"/>
              <a:t>テーブルは：</a:t>
            </a:r>
            <a:endParaRPr lang="en-US" altLang="ja-JP" b="1" dirty="0"/>
          </a:p>
          <a:p>
            <a:pPr>
              <a:buFont typeface="Wingdings" panose="05000000000000000000" pitchFamily="2" charset="2"/>
              <a:buChar char="Ø"/>
            </a:pPr>
            <a:endParaRPr lang="en-US" altLang="ja-JP" dirty="0"/>
          </a:p>
          <a:p>
            <a:pPr marL="344488" indent="-344488">
              <a:buFont typeface="Wingdings" panose="05000000000000000000" pitchFamily="2" charset="2"/>
              <a:buChar char="Ø"/>
            </a:pPr>
            <a:r>
              <a:rPr lang="ja-JP" altLang="en-US" dirty="0"/>
              <a:t>行動の結果と、次のマスの</a:t>
            </a:r>
            <a:r>
              <a:rPr lang="en-US" altLang="ja-JP" dirty="0"/>
              <a:t>Q</a:t>
            </a:r>
            <a:r>
              <a:rPr lang="ja-JP" altLang="en-US" dirty="0"/>
              <a:t>値から現在の</a:t>
            </a:r>
            <a:r>
              <a:rPr lang="en-US" altLang="ja-JP" dirty="0"/>
              <a:t>Q</a:t>
            </a:r>
            <a:r>
              <a:rPr lang="ja-JP" altLang="en-US" dirty="0"/>
              <a:t>値を更新する。</a:t>
            </a:r>
            <a:endParaRPr lang="en-US" altLang="ja-JP" dirty="0"/>
          </a:p>
          <a:p>
            <a:pPr marL="344488" indent="-344488">
              <a:buFont typeface="Wingdings" panose="05000000000000000000" pitchFamily="2" charset="2"/>
              <a:buChar char="Ø"/>
            </a:pPr>
            <a:r>
              <a:rPr lang="ja-JP" altLang="en-US" dirty="0"/>
              <a:t>割引率 </a:t>
            </a:r>
            <a:r>
              <a:rPr lang="en-US" altLang="ja-JP" dirty="0"/>
              <a:t>γ </a:t>
            </a:r>
            <a:r>
              <a:rPr lang="ja-JP" altLang="en-US" dirty="0"/>
              <a:t>は、未来の価値をどれだけ重視するかを決める。</a:t>
            </a:r>
            <a:endParaRPr lang="en-US" altLang="ja-JP" dirty="0"/>
          </a:p>
          <a:p>
            <a:pPr marL="344488" indent="-344488">
              <a:buFont typeface="Wingdings" panose="05000000000000000000" pitchFamily="2" charset="2"/>
              <a:buChar char="Ø"/>
            </a:pPr>
            <a:r>
              <a:rPr lang="ja-JP" altLang="en-US" dirty="0"/>
              <a:t>学習率 </a:t>
            </a:r>
            <a:r>
              <a:rPr lang="en-US" altLang="ja-JP" dirty="0"/>
              <a:t>α </a:t>
            </a:r>
            <a:r>
              <a:rPr lang="ja-JP" altLang="en-US" dirty="0"/>
              <a:t>は、</a:t>
            </a:r>
            <a:r>
              <a:rPr lang="en-US" altLang="ja-JP" dirty="0"/>
              <a:t>Q</a:t>
            </a:r>
            <a:r>
              <a:rPr lang="ja-JP" altLang="en-US" dirty="0"/>
              <a:t>値をどれだけ変えるかを決める。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EF790-824B-D954-DF2B-5629F41CBF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00B8C1-3C9A-9887-462D-36BC28A6D2C0}"/>
              </a:ext>
            </a:extLst>
          </p:cNvPr>
          <p:cNvSpPr/>
          <p:nvPr/>
        </p:nvSpPr>
        <p:spPr>
          <a:xfrm>
            <a:off x="1533175" y="4605931"/>
            <a:ext cx="7223551" cy="1408207"/>
          </a:xfrm>
          <a:prstGeom prst="roundRect">
            <a:avLst>
              <a:gd name="adj" fmla="val 6547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ja-JP" altLang="en-US" sz="2800" dirty="0">
                <a:solidFill>
                  <a:schemeClr val="tx1"/>
                </a:solidFill>
              </a:rPr>
              <a:t>次の章では、パラメータを調整して、学習結果の変化を確かめる。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just"/>
            <a:r>
              <a:rPr lang="ja-JP" altLang="en-US" dirty="0">
                <a:solidFill>
                  <a:schemeClr val="tx1"/>
                </a:solidFill>
              </a:rPr>
              <a:t>学習回数や設定を変えて、ネズミの学び方を比べてみよう！</a:t>
            </a:r>
            <a:endParaRPr lang="en-US" altLang="ja-JP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02D74B-81A3-E3D0-1731-B8316A57A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7" y="4605930"/>
            <a:ext cx="1408207" cy="140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6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8C1015-DF36-91DB-C537-51AE6570CF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4-1 </a:t>
            </a:r>
            <a:r>
              <a:rPr lang="ja-JP" altLang="en-US" dirty="0"/>
              <a:t>「迷路ゲーム</a:t>
            </a:r>
            <a:r>
              <a:rPr lang="en-US" altLang="ja-JP" dirty="0"/>
              <a:t>.exe </a:t>
            </a:r>
            <a:r>
              <a:rPr lang="ja-JP" altLang="en-US" dirty="0"/>
              <a:t>」の設定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092F16-23CB-A7F6-3211-FF886B10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ja-JP" altLang="en-US" dirty="0"/>
              <a:t>学習を調整しよう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C9804-6D20-069A-41FA-59095119DD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5F119B-FE3A-D11B-D1C5-96F6900F0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712" y="1696715"/>
            <a:ext cx="6048573" cy="473736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A569CC-8E85-4F61-7282-3DB778282143}"/>
              </a:ext>
            </a:extLst>
          </p:cNvPr>
          <p:cNvSpPr/>
          <p:nvPr/>
        </p:nvSpPr>
        <p:spPr>
          <a:xfrm>
            <a:off x="2753013" y="1895120"/>
            <a:ext cx="264398" cy="2603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3F7D10-29F4-103A-D2C7-735ED354128C}"/>
              </a:ext>
            </a:extLst>
          </p:cNvPr>
          <p:cNvCxnSpPr/>
          <p:nvPr/>
        </p:nvCxnSpPr>
        <p:spPr>
          <a:xfrm flipH="1">
            <a:off x="2369728" y="2017172"/>
            <a:ext cx="3718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61B9A8-1C0F-FE97-CEBE-6890E81A76C4}"/>
              </a:ext>
            </a:extLst>
          </p:cNvPr>
          <p:cNvSpPr/>
          <p:nvPr/>
        </p:nvSpPr>
        <p:spPr>
          <a:xfrm>
            <a:off x="4066965" y="2574081"/>
            <a:ext cx="264398" cy="2603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CEFFA6-C71A-14E1-B34F-565DD049E3F9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3629020" y="2704271"/>
            <a:ext cx="437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86AF57-694E-3E5C-98FF-86AD6E383BCF}"/>
              </a:ext>
            </a:extLst>
          </p:cNvPr>
          <p:cNvSpPr/>
          <p:nvPr/>
        </p:nvSpPr>
        <p:spPr>
          <a:xfrm>
            <a:off x="3331281" y="3400422"/>
            <a:ext cx="264398" cy="2603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5039A5-76BF-B5F1-BF07-8BBF7A6761F8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185037" y="3530612"/>
            <a:ext cx="11462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378ABD-7F61-E98D-4202-B9EEC3806623}"/>
              </a:ext>
            </a:extLst>
          </p:cNvPr>
          <p:cNvSpPr/>
          <p:nvPr/>
        </p:nvSpPr>
        <p:spPr>
          <a:xfrm>
            <a:off x="1563621" y="4157423"/>
            <a:ext cx="264398" cy="2603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92147D-1DF3-5F95-AE37-1565387FFBC8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1695820" y="2071358"/>
            <a:ext cx="0" cy="2086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1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FE7D5-9684-5FEE-40B7-52FB7CDD7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4-2 </a:t>
            </a:r>
            <a:r>
              <a:rPr lang="ja-JP" altLang="en-US" dirty="0"/>
              <a:t>「</a:t>
            </a:r>
            <a:r>
              <a:rPr lang="en-US" dirty="0"/>
              <a:t>Q</a:t>
            </a:r>
            <a:r>
              <a:rPr lang="ja-JP" altLang="en-US" dirty="0"/>
              <a:t>ラーニング</a:t>
            </a:r>
            <a:r>
              <a:rPr lang="en-US" altLang="ja-JP" dirty="0"/>
              <a:t>.exe</a:t>
            </a:r>
            <a:r>
              <a:rPr lang="ja-JP" altLang="en-US" dirty="0"/>
              <a:t>」の設定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624E9-8AA6-36FB-C891-BD4E3DC0751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36B97-C4F1-5171-FE47-BB2B2EC0C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25" y="1552390"/>
            <a:ext cx="2524477" cy="2638793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731C881-A9CC-034B-DBE7-E59BD1FE96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5"/>
            <a:ext cx="5497386" cy="3476625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デスクトップにある「</a:t>
            </a:r>
            <a:r>
              <a:rPr lang="en-US" altLang="ja-JP" dirty="0"/>
              <a:t>Q</a:t>
            </a:r>
            <a:r>
              <a:rPr lang="ja-JP" altLang="en-US" dirty="0"/>
              <a:t>ラーニング</a:t>
            </a:r>
            <a:r>
              <a:rPr lang="en-US" altLang="ja-JP" dirty="0"/>
              <a:t>.exe</a:t>
            </a:r>
            <a:r>
              <a:rPr lang="ja-JP" altLang="en-US" dirty="0"/>
              <a:t>」をダブルクリックする。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ja-JP" dirty="0"/>
              <a:t>Q</a:t>
            </a:r>
            <a:r>
              <a:rPr lang="ja-JP" altLang="en-US" dirty="0"/>
              <a:t>ラーニングが起動するまで待つ。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「訓練・接続設定」タブにあるパラメータを変更せずに、「開始」ボタンをクリックする。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学習が終了するまで、「迷路ゲーム</a:t>
            </a:r>
            <a:r>
              <a:rPr lang="en-US" altLang="ja-JP" dirty="0"/>
              <a:t>.exe</a:t>
            </a:r>
            <a:r>
              <a:rPr lang="ja-JP" altLang="en-US" dirty="0"/>
              <a:t>」でネズミがどのように動くかを観察する。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F6406-AAEF-9AAF-23A9-54ACEF214452}"/>
              </a:ext>
            </a:extLst>
          </p:cNvPr>
          <p:cNvSpPr txBox="1"/>
          <p:nvPr/>
        </p:nvSpPr>
        <p:spPr>
          <a:xfrm>
            <a:off x="399449" y="4956264"/>
            <a:ext cx="8345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2400" dirty="0"/>
              <a:t>ネズミは試行錯誤しながらチーズまでのルートを探す。最初は失敗が多いが、学習エピソードが増えるにつれて、上手にチーズまでたどり着けるようになる。</a:t>
            </a:r>
          </a:p>
        </p:txBody>
      </p:sp>
    </p:spTree>
    <p:extLst>
      <p:ext uri="{BB962C8B-B14F-4D97-AF65-F5344CB8AC3E}">
        <p14:creationId xmlns:p14="http://schemas.microsoft.com/office/powerpoint/2010/main" val="85033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BA6FCA-FD97-F9D1-7553-F0D741DD37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4-2 </a:t>
            </a:r>
            <a:r>
              <a:rPr lang="ja-JP" altLang="en-US" dirty="0"/>
              <a:t>「</a:t>
            </a:r>
            <a:r>
              <a:rPr lang="en-US" dirty="0"/>
              <a:t>Q</a:t>
            </a:r>
            <a:r>
              <a:rPr lang="ja-JP" altLang="en-US" dirty="0"/>
              <a:t>ラーニング</a:t>
            </a:r>
            <a:r>
              <a:rPr lang="en-US" altLang="ja-JP" dirty="0"/>
              <a:t>.exe</a:t>
            </a:r>
            <a:r>
              <a:rPr lang="ja-JP" altLang="en-US" dirty="0"/>
              <a:t>」の設定（つづき）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02981-950C-074C-1EE5-0CC97C4E6FB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0E496C-EE99-BEBC-6DB8-3E5252E0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14" y="1156096"/>
            <a:ext cx="8383170" cy="526806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9281BE-954B-2400-5E97-224EDC4CC60D}"/>
              </a:ext>
            </a:extLst>
          </p:cNvPr>
          <p:cNvSpPr/>
          <p:nvPr/>
        </p:nvSpPr>
        <p:spPr>
          <a:xfrm>
            <a:off x="1597313" y="5441524"/>
            <a:ext cx="264398" cy="2603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984E5F-A58E-1E33-17A0-842771784C74}"/>
              </a:ext>
            </a:extLst>
          </p:cNvPr>
          <p:cNvCxnSpPr/>
          <p:nvPr/>
        </p:nvCxnSpPr>
        <p:spPr>
          <a:xfrm flipH="1">
            <a:off x="1214028" y="5563576"/>
            <a:ext cx="3718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0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37476E-F079-AE13-64AD-00CF481BD7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4-3 </a:t>
            </a:r>
            <a:r>
              <a:rPr lang="ja-JP" altLang="en-US" dirty="0"/>
              <a:t>結果の解釈（</a:t>
            </a:r>
            <a:r>
              <a:rPr lang="en-US" altLang="ja-JP" dirty="0"/>
              <a:t>Q</a:t>
            </a:r>
            <a:r>
              <a:rPr lang="ja-JP" altLang="en-US" dirty="0"/>
              <a:t>テーブルのタブ）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FA91-2456-33D8-2EF5-C57FCAC5D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4"/>
            <a:ext cx="8972332" cy="835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各マスには上下左右の</a:t>
            </a:r>
            <a:r>
              <a:rPr lang="en-US" altLang="ja-JP" dirty="0"/>
              <a:t>Q</a:t>
            </a:r>
            <a:r>
              <a:rPr lang="ja-JP" altLang="en-US" dirty="0"/>
              <a:t>値が表示される。ネズミは、その中で</a:t>
            </a:r>
            <a:r>
              <a:rPr lang="ja-JP" altLang="en-US" dirty="0">
                <a:solidFill>
                  <a:srgbClr val="EE7660"/>
                </a:solidFill>
              </a:rPr>
              <a:t>最も大きい値</a:t>
            </a:r>
            <a:r>
              <a:rPr lang="ja-JP" altLang="en-US" dirty="0"/>
              <a:t>の方向を選んで進む。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C6C2E-F045-B3C4-3DB9-E72550A6ADF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47D3FF-D2F7-85C7-B68B-FAC4D7C5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56" y="1968500"/>
            <a:ext cx="7176085" cy="450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36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A187-7D65-41ED-FE90-81479451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F72089-1A0B-5902-A305-2F93E1A881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4-3 </a:t>
            </a:r>
            <a:r>
              <a:rPr lang="ja-JP" altLang="en-US" dirty="0"/>
              <a:t>結果の解釈（経路のタブ）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A1BE8-A4C2-A75A-D07F-A321A60778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4"/>
            <a:ext cx="8972332" cy="8350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dirty="0"/>
              <a:t>経路には、学習後にネズミが</a:t>
            </a:r>
            <a:r>
              <a:rPr lang="ja-JP" altLang="en-US" dirty="0">
                <a:solidFill>
                  <a:srgbClr val="EE7660"/>
                </a:solidFill>
              </a:rPr>
              <a:t>実際に通ったルート</a:t>
            </a:r>
            <a:r>
              <a:rPr lang="ja-JP" altLang="en-US" dirty="0"/>
              <a:t>が表示される。どの道を選んでチーズに向かったかを確認できる。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DAB77-23BB-9030-A5D6-617646FEFF3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CE0AF1-1837-7655-0195-6D75F9811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3956" y="1968500"/>
            <a:ext cx="7176084" cy="450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64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90182-35EC-639E-86E2-12840E83C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C136FB-565F-3120-826E-1C19A712D6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4-3 </a:t>
            </a:r>
            <a:r>
              <a:rPr lang="ja-JP" altLang="en-US" dirty="0"/>
              <a:t>結果の解釈（訪問ヒートマップのタブ）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337F1-D612-92CC-0D40-04786023DA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833" y="1133474"/>
            <a:ext cx="8972332" cy="8350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ja-JP" altLang="en-US" dirty="0"/>
              <a:t>訪問ヒートマップには、各マスを通った回数が色で表示される。</a:t>
            </a:r>
            <a:r>
              <a:rPr lang="ja-JP" altLang="en-US" dirty="0">
                <a:solidFill>
                  <a:srgbClr val="EE7660"/>
                </a:solidFill>
              </a:rPr>
              <a:t>赤いほど多く通っており</a:t>
            </a:r>
            <a:r>
              <a:rPr lang="ja-JP" altLang="en-US" dirty="0"/>
              <a:t>、ネズミがよく通る場所が分かる。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38593-7EF2-B41B-1FAE-7043DA591E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F11010-07E0-B79E-E6EE-97E89673B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3956" y="1968500"/>
            <a:ext cx="7176084" cy="450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96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812061-6AF6-EA43-9189-49D355A14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4-4 </a:t>
            </a:r>
            <a:r>
              <a:rPr lang="ja-JP" altLang="en-US" dirty="0"/>
              <a:t>最適化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25431-9784-9AD1-D8D3-8D9FEE6EC9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ja-JP" altLang="en-US" dirty="0"/>
              <a:t>訓練エピソード数が</a:t>
            </a:r>
            <a:r>
              <a:rPr lang="en-US" altLang="ja-JP" dirty="0"/>
              <a:t>10,000</a:t>
            </a:r>
            <a:r>
              <a:rPr lang="ja-JP" altLang="en-US" dirty="0"/>
              <a:t>回のため、訓練に時間がかかる。訓練エピソード数を</a:t>
            </a:r>
            <a:r>
              <a:rPr lang="en-US" altLang="ja-JP" dirty="0"/>
              <a:t>1,000</a:t>
            </a:r>
            <a:r>
              <a:rPr lang="ja-JP" altLang="en-US" dirty="0"/>
              <a:t>回ずつ減らしてみよう。</a:t>
            </a:r>
            <a:endParaRPr lang="en-US" altLang="ja-JP" dirty="0"/>
          </a:p>
          <a:p>
            <a:pPr marL="406400" indent="0" algn="just">
              <a:buNone/>
            </a:pPr>
            <a:r>
              <a:rPr lang="ja-JP" altLang="en-US" dirty="0"/>
              <a:t>訓練エピソード数：＿＿＿＿＿</a:t>
            </a:r>
            <a:endParaRPr lang="en-US" altLang="ja-JP" dirty="0"/>
          </a:p>
          <a:p>
            <a:pPr marL="457200" indent="-457200" algn="just">
              <a:buFont typeface="+mj-lt"/>
              <a:buAutoNum type="arabicPeriod" startAt="2"/>
            </a:pPr>
            <a:r>
              <a:rPr lang="en-US" dirty="0"/>
              <a:t>移動報酬を</a:t>
            </a:r>
            <a:r>
              <a:rPr lang="en-US" dirty="0">
                <a:solidFill>
                  <a:srgbClr val="EE7660"/>
                </a:solidFill>
              </a:rPr>
              <a:t>－1.5</a:t>
            </a:r>
            <a:r>
              <a:rPr lang="en-US" dirty="0"/>
              <a:t>にしたとき、訓練エピソード数をどこまで減らせるか調べてみよう（1,000回ずつ減らす）。</a:t>
            </a:r>
            <a:endParaRPr lang="en-US" altLang="ja-JP" dirty="0"/>
          </a:p>
          <a:p>
            <a:pPr marL="406400" indent="0" algn="just">
              <a:buNone/>
            </a:pPr>
            <a:r>
              <a:rPr lang="ja-JP" altLang="en-US" dirty="0"/>
              <a:t>訓練エピソード数：＿＿＿＿＿</a:t>
            </a:r>
            <a:endParaRPr lang="en-US" altLang="ja-JP" dirty="0"/>
          </a:p>
          <a:p>
            <a:pPr marL="457200" indent="-457200" algn="just">
              <a:buFont typeface="+mj-lt"/>
              <a:buAutoNum type="arabicPeriod" startAt="3"/>
            </a:pPr>
            <a:r>
              <a:rPr lang="en-US" dirty="0"/>
              <a:t>移動報酬を</a:t>
            </a:r>
            <a:r>
              <a:rPr lang="en-US" dirty="0">
                <a:solidFill>
                  <a:srgbClr val="EE7660"/>
                </a:solidFill>
              </a:rPr>
              <a:t>－1.5</a:t>
            </a:r>
            <a:r>
              <a:rPr lang="en-US" dirty="0"/>
              <a:t>、罠に入ったときの報酬を</a:t>
            </a:r>
            <a:r>
              <a:rPr lang="en-US" dirty="0">
                <a:solidFill>
                  <a:srgbClr val="EE7660"/>
                </a:solidFill>
              </a:rPr>
              <a:t>－50.0</a:t>
            </a:r>
            <a:r>
              <a:rPr lang="en-US" dirty="0"/>
              <a:t>にしたとき、訓練エピソード数をどこまで減らせるか調べてみよう（100回ずつ減らす）</a:t>
            </a:r>
            <a:r>
              <a:rPr lang="ja-JP" altLang="en-US" dirty="0"/>
              <a:t>。</a:t>
            </a:r>
            <a:endParaRPr lang="en-US" altLang="ja-JP" dirty="0"/>
          </a:p>
          <a:p>
            <a:pPr marL="406400" indent="0" algn="just">
              <a:buNone/>
            </a:pPr>
            <a:r>
              <a:rPr lang="ja-JP" altLang="en-US" dirty="0"/>
              <a:t>訓練エピソード数：＿＿＿＿＿</a:t>
            </a:r>
            <a:endParaRPr lang="en-US" altLang="ja-JP" dirty="0"/>
          </a:p>
          <a:p>
            <a:pPr marL="406400" indent="0" algn="just">
              <a:buNone/>
            </a:pPr>
            <a:endParaRPr lang="en-US" altLang="ja-JP" dirty="0"/>
          </a:p>
          <a:p>
            <a:pPr marL="406400" indent="0" algn="just">
              <a:buNone/>
            </a:pPr>
            <a:endParaRPr lang="en-US" altLang="ja-JP" dirty="0"/>
          </a:p>
          <a:p>
            <a:pPr marL="0" indent="0" algn="just">
              <a:buNone/>
            </a:pPr>
            <a:r>
              <a:rPr lang="ja-JP" altLang="en-US" sz="2000" spc="-120" dirty="0"/>
              <a:t>早くできた学生は、自由にパラメータや報酬を変えて、結果を観察してみよう。</a:t>
            </a:r>
            <a:endParaRPr lang="en-US" altLang="ja-JP" sz="2000" spc="-1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54DC0-B7C9-1A24-8B3B-59419703A3F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C169A-CD52-E630-A80A-E718793238BA}"/>
              </a:ext>
            </a:extLst>
          </p:cNvPr>
          <p:cNvSpPr txBox="1"/>
          <p:nvPr/>
        </p:nvSpPr>
        <p:spPr>
          <a:xfrm>
            <a:off x="3780115" y="1866900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EE7660"/>
                </a:solidFill>
              </a:rPr>
              <a:t>4000</a:t>
            </a:r>
            <a:endParaRPr lang="en-US" dirty="0">
              <a:solidFill>
                <a:srgbClr val="EE76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F0F2C-6167-27FE-8519-32CFE9237327}"/>
              </a:ext>
            </a:extLst>
          </p:cNvPr>
          <p:cNvSpPr txBox="1"/>
          <p:nvPr/>
        </p:nvSpPr>
        <p:spPr>
          <a:xfrm>
            <a:off x="3780115" y="3059668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EE7660"/>
                </a:solidFill>
              </a:rPr>
              <a:t>3000</a:t>
            </a:r>
            <a:endParaRPr lang="en-US" dirty="0">
              <a:solidFill>
                <a:srgbClr val="EE76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A3559F-6C2F-8D67-E3A6-22411983FBF7}"/>
              </a:ext>
            </a:extLst>
          </p:cNvPr>
          <p:cNvSpPr txBox="1"/>
          <p:nvPr/>
        </p:nvSpPr>
        <p:spPr>
          <a:xfrm>
            <a:off x="3780115" y="4570969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EE7660"/>
                </a:solidFill>
              </a:rPr>
              <a:t>2500</a:t>
            </a:r>
            <a:endParaRPr lang="en-US" dirty="0">
              <a:solidFill>
                <a:srgbClr val="EE76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46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AB012A-9122-B736-548A-4C8AED05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</a:t>
            </a:r>
            <a:r>
              <a:rPr lang="ja-JP" altLang="en-US" dirty="0"/>
              <a:t>まとめ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A0DB5B-B3A7-1710-2E0C-E2E34A82CD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ja-JP" altLang="en-US" dirty="0"/>
              <a:t>強化学習は、試行錯誤と報酬を通して、よりよい行動を学ぶ仕組みである。ゲームだけでなく、身近な問題にも応用できる。</a:t>
            </a:r>
            <a:endParaRPr lang="en-US" altLang="ja-JP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ja-JP" altLang="en-US" dirty="0"/>
              <a:t>強化学習が解決できる問題：</a:t>
            </a:r>
            <a:endParaRPr lang="en-US" altLang="ja-JP" dirty="0"/>
          </a:p>
          <a:p>
            <a:pPr algn="just"/>
            <a:r>
              <a:rPr lang="en-US" altLang="ja-JP" dirty="0"/>
              <a:t>AI</a:t>
            </a:r>
            <a:r>
              <a:rPr lang="ja-JP" altLang="en-US" dirty="0"/>
              <a:t>がよりよい答え方を学ぶ</a:t>
            </a:r>
          </a:p>
          <a:p>
            <a:pPr algn="just"/>
            <a:r>
              <a:rPr lang="ja-JP" altLang="en-US" dirty="0"/>
              <a:t>ロボットが転ばずに歩く</a:t>
            </a:r>
          </a:p>
          <a:p>
            <a:pPr algn="just"/>
            <a:r>
              <a:rPr lang="ja-JP" altLang="en-US" dirty="0"/>
              <a:t>電気をむだなく使う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43A22-BB90-6792-07BA-A0C48C1C19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9D0E72-2D8C-164B-9BE5-CBFAB825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815" y="3694704"/>
            <a:ext cx="2800350" cy="2800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981724-3127-FB67-D12E-B7F0A4BE63F1}"/>
              </a:ext>
            </a:extLst>
          </p:cNvPr>
          <p:cNvSpPr txBox="1"/>
          <p:nvPr/>
        </p:nvSpPr>
        <p:spPr>
          <a:xfrm>
            <a:off x="6873159" y="3283289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ソースコード</a:t>
            </a:r>
            <a:endParaRPr lang="en-US" altLang="ja-JP" dirty="0"/>
          </a:p>
          <a:p>
            <a:pPr algn="ctr"/>
            <a:r>
              <a:rPr lang="ja-JP" altLang="en-US" dirty="0"/>
              <a:t>のリンク</a:t>
            </a:r>
          </a:p>
        </p:txBody>
      </p:sp>
    </p:spTree>
    <p:extLst>
      <p:ext uri="{BB962C8B-B14F-4D97-AF65-F5344CB8AC3E}">
        <p14:creationId xmlns:p14="http://schemas.microsoft.com/office/powerpoint/2010/main" val="224461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FD73E-D96B-4428-99CD-717A4897D3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165DE6-2DCE-44FC-94B7-A499559DBF88}">
  <ds:schemaRefs>
    <ds:schemaRef ds:uri="http://purl.org/dc/terms/"/>
    <ds:schemaRef ds:uri="230e9df3-be65-4c73-a93b-d1236ebd677e"/>
    <ds:schemaRef ds:uri="http://purl.org/dc/dcmitype/"/>
    <ds:schemaRef ds:uri="71af3243-3dd4-4a8d-8c0d-dd76da1f02a5"/>
    <ds:schemaRef ds:uri="http://schemas.microsoft.com/sharepoint/v3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285E733-8340-4FDD-A6FC-B22F1B75E4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e835d-5e95-4512-8ae0-a7b38af25fc8}" enabled="0" method="" siteId="{72fe835d-5e95-4512-8ae0-a7b38af25f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11549</TotalTime>
  <Words>1894</Words>
  <Application>Microsoft Office PowerPoint</Application>
  <PresentationFormat>On-screen Show (4:3)</PresentationFormat>
  <Paragraphs>269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Aptos Narrow</vt:lpstr>
      <vt:lpstr>Arial</vt:lpstr>
      <vt:lpstr>Avenir Next LT Pro Light</vt:lpstr>
      <vt:lpstr>Calibri</vt:lpstr>
      <vt:lpstr>Cambria Math</vt:lpstr>
      <vt:lpstr>Tw Cen MT</vt:lpstr>
      <vt:lpstr>Wingdings</vt:lpstr>
      <vt:lpstr>Custom</vt:lpstr>
      <vt:lpstr>ゲームで強化学習の応用 を体験してみよう！</vt:lpstr>
      <vt:lpstr>1 概要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 迷路ゲーム</vt:lpstr>
      <vt:lpstr>PowerPoint Presentation</vt:lpstr>
      <vt:lpstr>PowerPoint Presentation</vt:lpstr>
      <vt:lpstr>PowerPoint Presentation</vt:lpstr>
      <vt:lpstr>PowerPoint Presentation</vt:lpstr>
      <vt:lpstr>3 Qラーニング</vt:lpstr>
      <vt:lpstr>PowerPoint Presentation</vt:lpstr>
      <vt:lpstr>PowerPoint Presentation</vt:lpstr>
      <vt:lpstr>PowerPoint Presentation</vt:lpstr>
      <vt:lpstr>PowerPoint Presentation</vt:lpstr>
      <vt:lpstr>4 学習を調整しよう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 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Mohd Hafizuddin</dc:creator>
  <cp:lastModifiedBy>Mohd Hafizuddin Bin Kamilin</cp:lastModifiedBy>
  <cp:revision>46</cp:revision>
  <cp:lastPrinted>2026-10-16T02:23:54Z</cp:lastPrinted>
  <dcterms:created xsi:type="dcterms:W3CDTF">2024-01-11T14:50:00Z</dcterms:created>
  <dcterms:modified xsi:type="dcterms:W3CDTF">2026-10-16T02:23:59Z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